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266" r:id="rId2"/>
    <p:sldId id="263" r:id="rId3"/>
    <p:sldId id="275" r:id="rId4"/>
    <p:sldId id="282" r:id="rId5"/>
    <p:sldId id="284" r:id="rId6"/>
    <p:sldId id="288" r:id="rId7"/>
    <p:sldId id="287" r:id="rId8"/>
    <p:sldId id="285" r:id="rId9"/>
    <p:sldId id="286" r:id="rId10"/>
    <p:sldId id="289" r:id="rId11"/>
    <p:sldId id="283" r:id="rId12"/>
    <p:sldId id="281" r:id="rId13"/>
  </p:sldIdLst>
  <p:sldSz cx="9906000" cy="6858000" type="A4"/>
  <p:notesSz cx="6735763" cy="9866313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B1C2"/>
    <a:srgbClr val="1D1F6F"/>
    <a:srgbClr val="A6A6A6"/>
    <a:srgbClr val="002452"/>
    <a:srgbClr val="8BA2BB"/>
    <a:srgbClr val="FBEEEA"/>
    <a:srgbClr val="F6EEE0"/>
    <a:srgbClr val="00734A"/>
    <a:srgbClr val="D55633"/>
    <a:srgbClr val="B6B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80" autoAdjust="0"/>
    <p:restoredTop sz="96357" autoAdjust="0"/>
  </p:normalViewPr>
  <p:slideViewPr>
    <p:cSldViewPr snapToGrid="0">
      <p:cViewPr>
        <p:scale>
          <a:sx n="90" d="100"/>
          <a:sy n="90" d="100"/>
        </p:scale>
        <p:origin x="840" y="-78"/>
      </p:cViewPr>
      <p:guideLst/>
    </p:cSldViewPr>
  </p:slideViewPr>
  <p:outlineViewPr>
    <p:cViewPr>
      <p:scale>
        <a:sx n="33" d="100"/>
        <a:sy n="33" d="100"/>
      </p:scale>
      <p:origin x="0" y="-231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690"/>
    </p:cViewPr>
  </p:sorterViewPr>
  <p:notesViewPr>
    <p:cSldViewPr snapToGrid="0">
      <p:cViewPr varScale="1">
        <p:scale>
          <a:sx n="81" d="100"/>
          <a:sy n="81" d="100"/>
        </p:scale>
        <p:origin x="399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626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D2E4BD13-F898-49E6-A39C-3EB0AB04F83F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626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E2ABDA5-4518-4283-841F-7522E9446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67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r">
              <a:defRPr sz="1300"/>
            </a:lvl1pPr>
          </a:lstStyle>
          <a:p>
            <a:fld id="{C4F66D35-9081-4BC0-9692-D9FCDB08226D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5" tIns="47427" rIns="94855" bIns="4742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4855" tIns="47427" rIns="94855" bIns="47427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r">
              <a:defRPr sz="1300"/>
            </a:lvl1pPr>
          </a:lstStyle>
          <a:p>
            <a:fld id="{EC363959-1759-4AF2-BCD1-A82443016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NULL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6.xml"/><Relationship Id="rId7" Type="http://schemas.openxmlformats.org/officeDocument/2006/relationships/image" Target="../media/image4.png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NULL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Relationship Id="rId9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8.xml"/><Relationship Id="rId7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image" Target="NULL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10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png"/><Relationship Id="rId2" Type="http://schemas.openxmlformats.org/officeDocument/2006/relationships/tags" Target="../tags/tag1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13.xml"/><Relationship Id="rId7" Type="http://schemas.openxmlformats.org/officeDocument/2006/relationships/image" Target="../media/image7.png"/><Relationship Id="rId2" Type="http://schemas.openxmlformats.org/officeDocument/2006/relationships/tags" Target="../tags/tag12.xml"/><Relationship Id="rId1" Type="http://schemas.openxmlformats.org/officeDocument/2006/relationships/vmlDrawing" Target="../drawings/vmlDrawing8.vml"/><Relationship Id="rId6" Type="http://schemas.openxmlformats.org/officeDocument/2006/relationships/image" Target="NULL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1.xml"/><Relationship Id="rId9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15.xml"/><Relationship Id="rId7" Type="http://schemas.openxmlformats.org/officeDocument/2006/relationships/image" Target="../media/image4.png"/><Relationship Id="rId2" Type="http://schemas.openxmlformats.org/officeDocument/2006/relationships/tags" Target="../tags/tag14.xml"/><Relationship Id="rId1" Type="http://schemas.openxmlformats.org/officeDocument/2006/relationships/vmlDrawing" Target="../drawings/vmlDrawing9.vml"/><Relationship Id="rId6" Type="http://schemas.openxmlformats.org/officeDocument/2006/relationships/image" Target="NULL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Relationship Id="rId9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7.xml"/><Relationship Id="rId7" Type="http://schemas.openxmlformats.org/officeDocument/2006/relationships/image" Target="../media/image8.png"/><Relationship Id="rId2" Type="http://schemas.openxmlformats.org/officeDocument/2006/relationships/tags" Target="../tags/tag16.xml"/><Relationship Id="rId1" Type="http://schemas.openxmlformats.org/officeDocument/2006/relationships/vmlDrawing" Target="../drawings/vmlDrawing10.vml"/><Relationship Id="rId6" Type="http://schemas.openxmlformats.org/officeDocument/2006/relationships/image" Target="NULL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9.xml"/><Relationship Id="rId7" Type="http://schemas.openxmlformats.org/officeDocument/2006/relationships/image" Target="../media/image8.png"/><Relationship Id="rId2" Type="http://schemas.openxmlformats.org/officeDocument/2006/relationships/tags" Target="../tags/tag18.xml"/><Relationship Id="rId1" Type="http://schemas.openxmlformats.org/officeDocument/2006/relationships/vmlDrawing" Target="../drawings/vmlDrawing11.vml"/><Relationship Id="rId6" Type="http://schemas.openxmlformats.org/officeDocument/2006/relationships/image" Target="NULL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040831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308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3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15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동국씨엠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White_Big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466" y="6473266"/>
            <a:ext cx="952026" cy="199632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126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3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Small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15206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48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2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동국씨엠 문서 표지 양식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err="1" smtClean="0"/>
              <a:t>White_Small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11" name="직사각형 10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466" y="6473266"/>
            <a:ext cx="952026" cy="199632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126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5964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5640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764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9" name="개체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동국씨엠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White_Clean</a:t>
            </a:r>
            <a:r>
              <a:rPr lang="en-US" altLang="ko-KR" dirty="0" smtClean="0"/>
              <a:t>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466" y="6473266"/>
            <a:ext cx="952026" cy="199632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126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44390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>
          <p15:clr>
            <a:srgbClr val="FBAE40"/>
          </p15:clr>
        </p15:guide>
        <p15:guide id="4" pos="6068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Small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495041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381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/>
          <p:cNvSpPr/>
          <p:nvPr userDrawn="1"/>
        </p:nvSpPr>
        <p:spPr>
          <a:xfrm>
            <a:off x="1" y="-5622"/>
            <a:ext cx="9906000" cy="6154911"/>
          </a:xfrm>
          <a:prstGeom prst="rect">
            <a:avLst/>
          </a:prstGeom>
          <a:gradFill>
            <a:gsLst>
              <a:gs pos="0">
                <a:srgbClr val="4B647F"/>
              </a:gs>
              <a:gs pos="80000">
                <a:srgbClr val="0F1F3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21683" y="1906080"/>
            <a:ext cx="74502" cy="431329"/>
          </a:xfrm>
          <a:prstGeom prst="rect">
            <a:avLst/>
          </a:prstGeom>
        </p:spPr>
      </p:pic>
      <p:sp>
        <p:nvSpPr>
          <p:cNvPr id="15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solidFill>
                  <a:schemeClr val="bg1">
                    <a:lumMod val="8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12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동국씨엠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Color_Small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214" y="6473266"/>
            <a:ext cx="952026" cy="19963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87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26602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 userDrawn="1">
          <p15:clr>
            <a:srgbClr val="FBAE40"/>
          </p15:clr>
        </p15:guide>
        <p15:guide id="3" orient="horz" pos="2047" userDrawn="1">
          <p15:clr>
            <a:srgbClr val="FBAE40"/>
          </p15:clr>
        </p15:guide>
        <p15:guide id="4" orient="horz" pos="1434" userDrawn="1">
          <p15:clr>
            <a:srgbClr val="FBAE40"/>
          </p15:clr>
        </p15:guide>
        <p15:guide id="5" pos="26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Clean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13837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811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2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/>
          <p:cNvSpPr/>
          <p:nvPr userDrawn="1"/>
        </p:nvSpPr>
        <p:spPr>
          <a:xfrm>
            <a:off x="1" y="-5622"/>
            <a:ext cx="9906000" cy="6154911"/>
          </a:xfrm>
          <a:prstGeom prst="rect">
            <a:avLst/>
          </a:prstGeom>
          <a:gradFill>
            <a:gsLst>
              <a:gs pos="0">
                <a:srgbClr val="4B647F"/>
              </a:gs>
              <a:gs pos="80000">
                <a:srgbClr val="0F1F3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21683" y="1906080"/>
            <a:ext cx="74502" cy="431329"/>
          </a:xfrm>
          <a:prstGeom prst="rect">
            <a:avLst/>
          </a:prstGeom>
        </p:spPr>
      </p:pic>
      <p:sp>
        <p:nvSpPr>
          <p:cNvPr id="15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solidFill>
                  <a:schemeClr val="bg1">
                    <a:lumMod val="8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동국씨엠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Color_Clean</a:t>
            </a:r>
            <a:r>
              <a:rPr lang="en-US" altLang="ko-KR" dirty="0" smtClean="0"/>
              <a:t> </a:t>
            </a:r>
            <a:r>
              <a:rPr lang="ko-KR" altLang="en-US" dirty="0" smtClean="0"/>
              <a:t>버전</a:t>
            </a: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214" y="6473266"/>
            <a:ext cx="952026" cy="199632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87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8830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2047">
          <p15:clr>
            <a:srgbClr val="FBAE40"/>
          </p15:clr>
        </p15:guide>
        <p15:guide id="4" orient="horz" pos="1434">
          <p15:clr>
            <a:srgbClr val="FBAE40"/>
          </p15:clr>
        </p15:guide>
        <p15:guide id="5" pos="2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571771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429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그림 2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05"/>
          <a:stretch/>
        </p:blipFill>
        <p:spPr>
          <a:xfrm>
            <a:off x="0" y="3197"/>
            <a:ext cx="9906000" cy="5525487"/>
          </a:xfrm>
          <a:prstGeom prst="rect">
            <a:avLst/>
          </a:prstGeom>
        </p:spPr>
      </p:pic>
      <p:grpSp>
        <p:nvGrpSpPr>
          <p:cNvPr id="9" name="그룹 8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0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자유형 11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solidFill>
                  <a:schemeClr val="bg1">
                    <a:lumMod val="85000"/>
                  </a:schemeClr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동국씨엠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Color_Big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721683" y="1906080"/>
            <a:ext cx="74502" cy="431329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214" y="6473266"/>
            <a:ext cx="952026" cy="199632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87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81024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047" userDrawn="1">
          <p15:clr>
            <a:srgbClr val="FBAE40"/>
          </p15:clr>
        </p15:guide>
        <p15:guide id="2" pos="3120" userDrawn="1">
          <p15:clr>
            <a:srgbClr val="FBAE40"/>
          </p15:clr>
        </p15:guide>
        <p15:guide id="3" orient="horz" pos="1434" userDrawn="1">
          <p15:clr>
            <a:srgbClr val="FBAE40"/>
          </p15:clr>
        </p15:guide>
        <p15:guide id="4" pos="26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74455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450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857551" y="2276475"/>
            <a:ext cx="632205" cy="3242876"/>
          </a:xfrm>
        </p:spPr>
        <p:txBody>
          <a:bodyPr>
            <a:noAutofit/>
          </a:bodyPr>
          <a:lstStyle>
            <a:lvl1pPr marL="0" indent="0" algn="r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</a:p>
          <a:p>
            <a:pPr lvl="0"/>
            <a:r>
              <a:rPr lang="en-US" altLang="ko-KR" dirty="0" smtClean="0"/>
              <a:t>02</a:t>
            </a:r>
          </a:p>
          <a:p>
            <a:pPr lvl="0"/>
            <a:r>
              <a:rPr lang="en-US" altLang="ko-KR" dirty="0" smtClean="0"/>
              <a:t>03</a:t>
            </a:r>
          </a:p>
          <a:p>
            <a:pPr lvl="0"/>
            <a:r>
              <a:rPr lang="en-US" altLang="ko-KR" dirty="0" smtClean="0"/>
              <a:t>04</a:t>
            </a:r>
          </a:p>
          <a:p>
            <a:pPr lvl="0"/>
            <a:r>
              <a:rPr lang="en-US" altLang="ko-KR" dirty="0" smtClean="0"/>
              <a:t>05</a:t>
            </a:r>
          </a:p>
        </p:txBody>
      </p:sp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0" y="0"/>
            <a:ext cx="2190750" cy="6858000"/>
          </a:xfrm>
          <a:prstGeom prst="rect">
            <a:avLst/>
          </a:prstGeom>
        </p:spPr>
      </p:pic>
      <p:sp>
        <p:nvSpPr>
          <p:cNvPr id="2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 smtClean="0">
                <a:solidFill>
                  <a:srgbClr val="002452"/>
                </a:solidFill>
              </a:rPr>
              <a:t>Contents</a:t>
            </a:r>
            <a:endParaRPr lang="ko-KR" altLang="en-US" dirty="0" smtClean="0">
              <a:solidFill>
                <a:srgbClr val="002452"/>
              </a:solidFill>
            </a:endParaRPr>
          </a:p>
        </p:txBody>
      </p:sp>
      <p:sp>
        <p:nvSpPr>
          <p:cNvPr id="17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6772319" y="2284710"/>
            <a:ext cx="938297" cy="3127547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+mj-lt"/>
              <a:buNone/>
              <a:defRPr sz="1600" baseline="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endParaRPr lang="ko-KR" altLang="en-US" dirty="0"/>
          </a:p>
        </p:txBody>
      </p:sp>
      <p:sp>
        <p:nvSpPr>
          <p:cNvPr id="20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1505513" y="2276475"/>
            <a:ext cx="3447487" cy="3242876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6596213"/>
            <a:ext cx="756663" cy="15866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18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873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35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  <p15:guide id="11" orient="horz" pos="1434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4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4308" y="2454795"/>
            <a:ext cx="2361692" cy="3264383"/>
          </a:xfrm>
          <a:prstGeom prst="rect">
            <a:avLst/>
          </a:prstGeom>
        </p:spPr>
      </p:pic>
      <p:sp>
        <p:nvSpPr>
          <p:cNvPr id="3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 smtClean="0">
                <a:solidFill>
                  <a:srgbClr val="002452"/>
                </a:solidFill>
              </a:rPr>
              <a:t>Contents</a:t>
            </a:r>
            <a:endParaRPr lang="ko-KR" altLang="en-US" dirty="0" smtClean="0">
              <a:solidFill>
                <a:srgbClr val="002452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6596213"/>
            <a:ext cx="756663" cy="15866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18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616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80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6" orient="horz" pos="1434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7825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99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8"/>
          </p:nvPr>
        </p:nvSpPr>
        <p:spPr>
          <a:xfrm>
            <a:off x="270064" y="1431130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6596213"/>
            <a:ext cx="756663" cy="158666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18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9741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orient="horz" pos="4065" userDrawn="1">
          <p15:clr>
            <a:srgbClr val="F26B43"/>
          </p15:clr>
        </p15:guide>
        <p15:guide id="4" orient="horz" pos="822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4269" userDrawn="1">
          <p15:clr>
            <a:srgbClr val="FBAE40"/>
          </p15:clr>
        </p15:guide>
        <p15:guide id="7" orient="horz" pos="890" userDrawn="1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 (Action Title 미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8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270064" y="931201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 smtClean="0"/>
              <a:t>Action Title </a:t>
            </a:r>
            <a:r>
              <a:rPr lang="ko-KR" altLang="en-US" dirty="0" smtClean="0"/>
              <a:t>미사용 내지양식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6596213"/>
            <a:ext cx="756663" cy="158666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18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295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1139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1207">
          <p15:clr>
            <a:srgbClr val="F26B43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696537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85" name="think-cell 슬라이드" r:id="rId14" imgW="381" imgH="381" progId="TCLayout.ActiveDocument.1">
                  <p:embed/>
                </p:oleObj>
              </mc:Choice>
              <mc:Fallback>
                <p:oleObj name="think-cell 슬라이드" r:id="rId1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9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6B6B6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_OOOO</a:t>
            </a:r>
            <a:r>
              <a:rPr lang="ko-KR" altLang="en-US" smtClean="0"/>
              <a:t>팀 </a:t>
            </a:r>
            <a:r>
              <a:rPr lang="en-US" altLang="ko-KR" smtClean="0"/>
              <a:t>OOO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61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22" r:id="rId2"/>
    <p:sldLayoutId id="2147483726" r:id="rId3"/>
    <p:sldLayoutId id="2147483715" r:id="rId4"/>
    <p:sldLayoutId id="2147483727" r:id="rId5"/>
    <p:sldLayoutId id="2147483717" r:id="rId6"/>
    <p:sldLayoutId id="2147483718" r:id="rId7"/>
    <p:sldLayoutId id="2147483720" r:id="rId8"/>
    <p:sldLayoutId id="2147483719" r:id="rId9"/>
    <p:sldLayoutId id="2147483729" r:id="rId10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97894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634" name="think-cell 슬라이드" r:id="rId4" imgW="381" imgH="381" progId="TCLayout.ActiveDocument.1">
                  <p:embed/>
                </p:oleObj>
              </mc:Choice>
              <mc:Fallback>
                <p:oleObj name="think-cell 슬라이드" r:id="rId4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3" y="2276475"/>
            <a:ext cx="5398943" cy="1105080"/>
          </a:xfrm>
        </p:spPr>
        <p:txBody>
          <a:bodyPr vert="horz"/>
          <a:lstStyle/>
          <a:p>
            <a:r>
              <a:rPr lang="en-US" altLang="ko-KR" smtClean="0"/>
              <a:t>D-Cube </a:t>
            </a:r>
            <a:r>
              <a:rPr lang="ko-KR" altLang="en-US" smtClean="0"/>
              <a:t>마스터플랜 프로젝트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z="2400" smtClean="0">
                <a:solidFill>
                  <a:srgbClr val="002452"/>
                </a:solidFill>
              </a:rPr>
              <a:t>(</a:t>
            </a:r>
            <a:r>
              <a:rPr lang="ko-KR" altLang="en-US" sz="2400" smtClean="0">
                <a:solidFill>
                  <a:srgbClr val="002452"/>
                </a:solidFill>
              </a:rPr>
              <a:t>이슈 분석서</a:t>
            </a:r>
            <a:r>
              <a:rPr lang="en-US" altLang="ko-KR" sz="2400" smtClean="0">
                <a:solidFill>
                  <a:srgbClr val="002452"/>
                </a:solidFill>
              </a:rPr>
              <a:t>)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442133" y="3665100"/>
            <a:ext cx="5364061" cy="248727"/>
          </a:xfrm>
        </p:spPr>
        <p:txBody>
          <a:bodyPr/>
          <a:lstStyle/>
          <a:p>
            <a:r>
              <a:rPr lang="en-US" altLang="ko-KR" smtClean="0"/>
              <a:t>D-Cube TF</a:t>
            </a:r>
            <a:r>
              <a:rPr lang="ko-KR" altLang="en-US" smtClean="0"/>
              <a:t>팀</a:t>
            </a:r>
            <a:r>
              <a:rPr lang="ko-KR" altLang="en-US" b="1" smtClean="0"/>
              <a:t>｜</a:t>
            </a:r>
            <a:r>
              <a:rPr lang="en-US" altLang="ko-KR" smtClean="0"/>
              <a:t>26.08.01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152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26" y="2442012"/>
            <a:ext cx="3421424" cy="357025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1107918" y="2442367"/>
            <a:ext cx="51412" cy="1340084"/>
            <a:chOff x="1193981" y="2442366"/>
            <a:chExt cx="72000" cy="3228115"/>
          </a:xfrm>
        </p:grpSpPr>
        <p:cxnSp>
          <p:nvCxnSpPr>
            <p:cNvPr id="4" name="직선 연결선 3"/>
            <p:cNvCxnSpPr/>
            <p:nvPr userDrawn="1"/>
          </p:nvCxnSpPr>
          <p:spPr>
            <a:xfrm>
              <a:off x="1214781" y="2442366"/>
              <a:ext cx="13173" cy="316788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타원 4"/>
            <p:cNvSpPr/>
            <p:nvPr userDrawn="1"/>
          </p:nvSpPr>
          <p:spPr>
            <a:xfrm>
              <a:off x="1193981" y="5598481"/>
              <a:ext cx="72000" cy="7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noFill/>
                </a:ln>
                <a:solidFill>
                  <a:schemeClr val="tx2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6" name="타원 5"/>
          <p:cNvSpPr/>
          <p:nvPr/>
        </p:nvSpPr>
        <p:spPr>
          <a:xfrm>
            <a:off x="962167" y="2936648"/>
            <a:ext cx="357025" cy="35702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noFill/>
              </a:ln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7" name="텍스트 개체 틀 25"/>
          <p:cNvSpPr txBox="1">
            <a:spLocks/>
          </p:cNvSpPr>
          <p:nvPr/>
        </p:nvSpPr>
        <p:spPr>
          <a:xfrm>
            <a:off x="949795" y="2997926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02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962167" y="2441522"/>
            <a:ext cx="357025" cy="357025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9" name="텍스트 개체 틀 25"/>
          <p:cNvSpPr txBox="1">
            <a:spLocks/>
          </p:cNvSpPr>
          <p:nvPr/>
        </p:nvSpPr>
        <p:spPr>
          <a:xfrm>
            <a:off x="949795" y="2502800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01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962167" y="3425425"/>
            <a:ext cx="357025" cy="35702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1" name="텍스트 개체 틀 25"/>
          <p:cNvSpPr txBox="1">
            <a:spLocks/>
          </p:cNvSpPr>
          <p:nvPr/>
        </p:nvSpPr>
        <p:spPr>
          <a:xfrm>
            <a:off x="949795" y="3486703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03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6" name="텍스트 개체 틀 26"/>
          <p:cNvSpPr txBox="1">
            <a:spLocks/>
          </p:cNvSpPr>
          <p:nvPr/>
        </p:nvSpPr>
        <p:spPr>
          <a:xfrm>
            <a:off x="1500997" y="2276475"/>
            <a:ext cx="4235019" cy="35361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0" eaLnBrk="1" latinLnBrk="1" hangingPunct="1">
              <a:lnSpc>
                <a:spcPct val="2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0" baseline="0">
                <a:solidFill>
                  <a:schemeClr val="bg1">
                    <a:lumMod val="6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00000"/>
              </a:lnSpc>
            </a:pPr>
            <a:r>
              <a:rPr lang="ko-KR" altLang="en-US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이슈 분석 </a:t>
            </a:r>
            <a:r>
              <a:rPr lang="en-US" altLang="ko-KR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Approach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  <a:p>
            <a:pPr algn="l">
              <a:lnSpc>
                <a:spcPct val="200000"/>
              </a:lnSpc>
            </a:pPr>
            <a:r>
              <a:rPr lang="ko-KR" altLang="en-US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영역별 이슈 및 원인분석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개선기회 도출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9102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9"/>
          </p:nvPr>
        </p:nvSpPr>
        <p:spPr>
          <a:xfrm>
            <a:off x="272833" y="146592"/>
            <a:ext cx="6172693" cy="418704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ko-KR" altLang="en-US" dirty="0"/>
              <a:t>이슈 분석 수행</a:t>
            </a:r>
            <a:r>
              <a:rPr lang="en-US" altLang="ko-KR" dirty="0"/>
              <a:t> </a:t>
            </a:r>
            <a:r>
              <a:rPr lang="ko-KR" altLang="en-US" dirty="0"/>
              <a:t>방법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_D-CUBE TF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31" name="Rectangle 60"/>
          <p:cNvSpPr>
            <a:spLocks noChangeArrowheads="1"/>
          </p:cNvSpPr>
          <p:nvPr/>
        </p:nvSpPr>
        <p:spPr bwMode="auto">
          <a:xfrm>
            <a:off x="474785" y="2171928"/>
            <a:ext cx="1129812" cy="3714523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5200" rIns="54000" bIns="2520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defTabSz="914400" eaLnBrk="1" hangingPunct="1"/>
            <a:endParaRPr lang="ko-KR" altLang="en-US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32" name="AutoShape 61"/>
          <p:cNvSpPr>
            <a:spLocks noChangeArrowheads="1"/>
          </p:cNvSpPr>
          <p:nvPr/>
        </p:nvSpPr>
        <p:spPr bwMode="auto">
          <a:xfrm rot="16200000">
            <a:off x="5036528" y="3729642"/>
            <a:ext cx="3219450" cy="373440"/>
          </a:xfrm>
          <a:custGeom>
            <a:avLst/>
            <a:gdLst>
              <a:gd name="T0" fmla="*/ 3066079 w 21600"/>
              <a:gd name="T1" fmla="*/ 319882 h 21600"/>
              <a:gd name="T2" fmla="*/ 1609725 w 21600"/>
              <a:gd name="T3" fmla="*/ 639763 h 21600"/>
              <a:gd name="T4" fmla="*/ 153371 w 21600"/>
              <a:gd name="T5" fmla="*/ 319882 h 21600"/>
              <a:gd name="T6" fmla="*/ 160972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829 w 21600"/>
              <a:gd name="T13" fmla="*/ 2829 h 21600"/>
              <a:gd name="T14" fmla="*/ 18771 w 21600"/>
              <a:gd name="T15" fmla="*/ 1877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057" y="21600"/>
                </a:lnTo>
                <a:lnTo>
                  <a:pt x="19543" y="21600"/>
                </a:lnTo>
                <a:lnTo>
                  <a:pt x="21600" y="0"/>
                </a:lnTo>
                <a:close/>
              </a:path>
            </a:pathLst>
          </a:custGeom>
          <a:gradFill rotWithShape="1">
            <a:gsLst>
              <a:gs pos="0">
                <a:srgbClr val="767676"/>
              </a:gs>
              <a:gs pos="100000">
                <a:srgbClr val="FFFFFF">
                  <a:alpha val="4200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defTabSz="914400"/>
            <a:endParaRPr lang="ko-KR" altLang="en-US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33" name="Rectangle 62"/>
          <p:cNvSpPr>
            <a:spLocks noChangeArrowheads="1"/>
          </p:cNvSpPr>
          <p:nvPr/>
        </p:nvSpPr>
        <p:spPr bwMode="auto">
          <a:xfrm>
            <a:off x="422031" y="1665520"/>
            <a:ext cx="3790950" cy="360363"/>
          </a:xfrm>
          <a:prstGeom prst="rect">
            <a:avLst/>
          </a:prstGeom>
          <a:solidFill>
            <a:srgbClr val="1D1F6F"/>
          </a:solidFill>
          <a:ln w="9525" algn="ctr">
            <a:solidFill>
              <a:srgbClr val="333333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현황 평가 및 이슈 파악</a:t>
            </a:r>
          </a:p>
        </p:txBody>
      </p:sp>
      <p:sp>
        <p:nvSpPr>
          <p:cNvPr id="34" name="AutoShape 63"/>
          <p:cNvSpPr>
            <a:spLocks noChangeArrowheads="1"/>
          </p:cNvSpPr>
          <p:nvPr/>
        </p:nvSpPr>
        <p:spPr bwMode="auto">
          <a:xfrm>
            <a:off x="619858" y="2240645"/>
            <a:ext cx="1195754" cy="75723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업무 관련자료 </a:t>
            </a:r>
            <a:b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</a:b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분석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35" name="Rectangle 64"/>
          <p:cNvSpPr>
            <a:spLocks noChangeArrowheads="1"/>
          </p:cNvSpPr>
          <p:nvPr/>
        </p:nvSpPr>
        <p:spPr bwMode="auto">
          <a:xfrm>
            <a:off x="422031" y="2083033"/>
            <a:ext cx="3790950" cy="4105498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>
            <a:lvl1pPr marL="85725" indent="-85725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85725" marR="0" lvl="0" indent="-8572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Tx/>
              <a:buFont typeface="돋움" panose="020B0600000101010101" pitchFamily="50" charset="-127"/>
              <a:buNone/>
              <a:tabLst/>
              <a:defRPr/>
            </a:pPr>
            <a:endParaRPr kumimoji="0" lang="ko-KR" altLang="en-US" sz="1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36" name="Text Box 65"/>
          <p:cNvSpPr txBox="1">
            <a:spLocks noChangeArrowheads="1"/>
          </p:cNvSpPr>
          <p:nvPr/>
        </p:nvSpPr>
        <p:spPr bwMode="auto">
          <a:xfrm>
            <a:off x="1953358" y="2246995"/>
            <a:ext cx="217316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92075" indent="-92075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defTabSz="914400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규정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,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준칙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,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지침 등 관련 제규정 자료 분석</a:t>
            </a:r>
          </a:p>
          <a:p>
            <a:pPr defTabSz="914400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업무처리 매뉴얼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,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업무 처리 현황 등 업무 수행 관련 자료분석</a:t>
            </a:r>
          </a:p>
        </p:txBody>
      </p:sp>
      <p:sp>
        <p:nvSpPr>
          <p:cNvPr id="37" name="AutoShape 66"/>
          <p:cNvSpPr>
            <a:spLocks noChangeArrowheads="1"/>
          </p:cNvSpPr>
          <p:nvPr/>
        </p:nvSpPr>
        <p:spPr bwMode="auto">
          <a:xfrm rot="16200000">
            <a:off x="2534139" y="3721705"/>
            <a:ext cx="4159250" cy="373440"/>
          </a:xfrm>
          <a:custGeom>
            <a:avLst/>
            <a:gdLst>
              <a:gd name="T0" fmla="*/ 3961108 w 21600"/>
              <a:gd name="T1" fmla="*/ 396081 h 21600"/>
              <a:gd name="T2" fmla="*/ 2079625 w 21600"/>
              <a:gd name="T3" fmla="*/ 792162 h 21600"/>
              <a:gd name="T4" fmla="*/ 198142 w 21600"/>
              <a:gd name="T5" fmla="*/ 396081 h 21600"/>
              <a:gd name="T6" fmla="*/ 2079625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829 w 21600"/>
              <a:gd name="T13" fmla="*/ 2829 h 21600"/>
              <a:gd name="T14" fmla="*/ 18771 w 21600"/>
              <a:gd name="T15" fmla="*/ 1877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057" y="21600"/>
                </a:lnTo>
                <a:lnTo>
                  <a:pt x="19543" y="21600"/>
                </a:lnTo>
                <a:lnTo>
                  <a:pt x="21600" y="0"/>
                </a:lnTo>
                <a:close/>
              </a:path>
            </a:pathLst>
          </a:custGeom>
          <a:gradFill rotWithShape="1">
            <a:gsLst>
              <a:gs pos="0">
                <a:srgbClr val="767676"/>
              </a:gs>
              <a:gs pos="100000">
                <a:srgbClr val="FFFFFF">
                  <a:alpha val="4200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/>
          <a:p>
            <a:pPr defTabSz="914400"/>
            <a:endParaRPr lang="ko-KR" altLang="en-US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38" name="Rectangle 67"/>
          <p:cNvSpPr>
            <a:spLocks noChangeArrowheads="1"/>
          </p:cNvSpPr>
          <p:nvPr/>
        </p:nvSpPr>
        <p:spPr bwMode="auto">
          <a:xfrm>
            <a:off x="4815343" y="2246492"/>
            <a:ext cx="1528397" cy="428625"/>
          </a:xfrm>
          <a:prstGeom prst="rect">
            <a:avLst/>
          </a:prstGeom>
          <a:solidFill>
            <a:srgbClr val="1D1F6F"/>
          </a:solidFill>
          <a:ln w="9525" algn="ctr">
            <a:solidFill>
              <a:srgbClr val="333333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이슈 종합 및 </a:t>
            </a:r>
            <a:b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</a:b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원인 분석</a:t>
            </a:r>
          </a:p>
        </p:txBody>
      </p:sp>
      <p:sp>
        <p:nvSpPr>
          <p:cNvPr id="39" name="Text Box 68"/>
          <p:cNvSpPr txBox="1">
            <a:spLocks noChangeArrowheads="1"/>
          </p:cNvSpPr>
          <p:nvPr/>
        </p:nvSpPr>
        <p:spPr bwMode="auto">
          <a:xfrm>
            <a:off x="4882662" y="4535577"/>
            <a:ext cx="1461078" cy="93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marL="90488" indent="-90488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defTabSz="914400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이슈별 근본 원인에 대한 분석 및 유형 분류 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(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전략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/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규정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,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프로세스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,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 조직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, </a:t>
            </a:r>
            <a:b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</a:b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IT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영역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)</a:t>
            </a:r>
          </a:p>
        </p:txBody>
      </p:sp>
      <p:sp>
        <p:nvSpPr>
          <p:cNvPr id="40" name="AutoShape 70"/>
          <p:cNvSpPr>
            <a:spLocks noChangeArrowheads="1"/>
          </p:cNvSpPr>
          <p:nvPr/>
        </p:nvSpPr>
        <p:spPr bwMode="auto">
          <a:xfrm>
            <a:off x="619858" y="5328056"/>
            <a:ext cx="1195754" cy="7572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선진 프로세스</a:t>
            </a:r>
            <a:b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</a:b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분석</a:t>
            </a:r>
          </a:p>
        </p:txBody>
      </p:sp>
      <p:sp>
        <p:nvSpPr>
          <p:cNvPr id="41" name="AutoShape 71"/>
          <p:cNvSpPr>
            <a:spLocks noChangeArrowheads="1"/>
          </p:cNvSpPr>
          <p:nvPr/>
        </p:nvSpPr>
        <p:spPr bwMode="auto">
          <a:xfrm>
            <a:off x="619858" y="3262316"/>
            <a:ext cx="1195754" cy="7572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As-Is 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프로세스 맵검토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/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보완</a:t>
            </a:r>
          </a:p>
        </p:txBody>
      </p:sp>
      <p:sp>
        <p:nvSpPr>
          <p:cNvPr id="42" name="Rectangle 72"/>
          <p:cNvSpPr>
            <a:spLocks noChangeArrowheads="1"/>
          </p:cNvSpPr>
          <p:nvPr/>
        </p:nvSpPr>
        <p:spPr bwMode="auto">
          <a:xfrm>
            <a:off x="6901961" y="2641779"/>
            <a:ext cx="1795097" cy="360363"/>
          </a:xfrm>
          <a:prstGeom prst="rect">
            <a:avLst/>
          </a:prstGeom>
          <a:solidFill>
            <a:srgbClr val="1D1F6F"/>
          </a:solidFill>
          <a:ln w="9525" algn="ctr">
            <a:solidFill>
              <a:srgbClr val="333333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개선기회 도출</a:t>
            </a:r>
          </a:p>
        </p:txBody>
      </p:sp>
      <p:sp>
        <p:nvSpPr>
          <p:cNvPr id="43" name="Text Box 74"/>
          <p:cNvSpPr txBox="1">
            <a:spLocks noChangeArrowheads="1"/>
          </p:cNvSpPr>
          <p:nvPr/>
        </p:nvSpPr>
        <p:spPr bwMode="auto">
          <a:xfrm>
            <a:off x="1953358" y="5401130"/>
            <a:ext cx="2173165" cy="558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92075" indent="-92075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defTabSz="914400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1100" b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프로세스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분석을 통한 이슈 반영</a:t>
            </a:r>
          </a:p>
          <a:p>
            <a:pPr defTabSz="914400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1100" b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타사 구축사례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분석을 통한 업무 프로세스 관련 이슈 반영</a:t>
            </a:r>
          </a:p>
        </p:txBody>
      </p:sp>
      <p:sp>
        <p:nvSpPr>
          <p:cNvPr id="44" name="AutoShape 75"/>
          <p:cNvSpPr>
            <a:spLocks noChangeArrowheads="1"/>
          </p:cNvSpPr>
          <p:nvPr/>
        </p:nvSpPr>
        <p:spPr bwMode="auto">
          <a:xfrm>
            <a:off x="4906197" y="2868792"/>
            <a:ext cx="1269023" cy="4984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이슈 상세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 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정의</a:t>
            </a:r>
          </a:p>
        </p:txBody>
      </p:sp>
      <p:sp>
        <p:nvSpPr>
          <p:cNvPr id="45" name="AutoShape 76"/>
          <p:cNvSpPr>
            <a:spLocks noChangeArrowheads="1"/>
          </p:cNvSpPr>
          <p:nvPr/>
        </p:nvSpPr>
        <p:spPr bwMode="auto">
          <a:xfrm>
            <a:off x="4900253" y="3762382"/>
            <a:ext cx="1336431" cy="746125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이슈 별 원인 분석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(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전략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/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규정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,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프로세스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, </a:t>
            </a: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조직</a:t>
            </a:r>
            <a:r>
              <a:rPr kumimoji="1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, IT) </a:t>
            </a:r>
          </a:p>
        </p:txBody>
      </p:sp>
      <p:sp>
        <p:nvSpPr>
          <p:cNvPr id="46" name="AutoShape 77"/>
          <p:cNvSpPr>
            <a:spLocks noChangeArrowheads="1"/>
          </p:cNvSpPr>
          <p:nvPr/>
        </p:nvSpPr>
        <p:spPr bwMode="auto">
          <a:xfrm>
            <a:off x="5377961" y="3438525"/>
            <a:ext cx="398585" cy="258763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 algn="ctr">
            <a:solidFill>
              <a:srgbClr val="0000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10800" rIns="18000" bIns="1080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47" name="Text Box 78"/>
          <p:cNvSpPr txBox="1">
            <a:spLocks noChangeArrowheads="1"/>
          </p:cNvSpPr>
          <p:nvPr/>
        </p:nvSpPr>
        <p:spPr bwMode="auto">
          <a:xfrm>
            <a:off x="1975338" y="3217728"/>
            <a:ext cx="2151185" cy="1117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92075" indent="-92075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defTabSz="914400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현업이 작성한 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As-Is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프로세스 정의서 검토</a:t>
            </a:r>
            <a:endParaRPr lang="en-US" altLang="ko-KR" sz="1100" b="0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  <a:p>
            <a:pPr defTabSz="914400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1100" b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기존</a:t>
            </a:r>
            <a:r>
              <a:rPr lang="en-US" altLang="ko-KR" sz="1100" b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 </a:t>
            </a:r>
            <a:r>
              <a:rPr lang="ko-KR" altLang="en-US" sz="1100" b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산출물</a:t>
            </a:r>
            <a:r>
              <a:rPr lang="en-US" altLang="ko-KR" sz="1100" b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(</a:t>
            </a:r>
            <a:r>
              <a:rPr lang="ko-KR" altLang="en-US" sz="1100" b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현행프로세스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맵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)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을 </a:t>
            </a:r>
            <a:r>
              <a:rPr lang="en-US" altLang="ko-KR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PI 관점에서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상세 검토 및 보완</a:t>
            </a:r>
          </a:p>
          <a:p>
            <a:pPr defTabSz="914400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1100" b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현업 인터뷰를 </a:t>
            </a:r>
            <a:r>
              <a:rPr lang="ko-KR" altLang="en-US" sz="1100" b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통한 업무 영역 이슈 도출 및 시스템 관련 이슈 추가 확인</a:t>
            </a:r>
          </a:p>
        </p:txBody>
      </p:sp>
      <p:sp>
        <p:nvSpPr>
          <p:cNvPr id="48" name="AutoShape 79"/>
          <p:cNvSpPr>
            <a:spLocks noChangeArrowheads="1"/>
          </p:cNvSpPr>
          <p:nvPr/>
        </p:nvSpPr>
        <p:spPr bwMode="auto">
          <a:xfrm>
            <a:off x="7031350" y="3106285"/>
            <a:ext cx="1541411" cy="569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이슈 별 개선기회 도출 </a:t>
            </a:r>
          </a:p>
        </p:txBody>
      </p:sp>
      <p:sp>
        <p:nvSpPr>
          <p:cNvPr id="49" name="AutoShape 80"/>
          <p:cNvSpPr>
            <a:spLocks noChangeArrowheads="1"/>
          </p:cNvSpPr>
          <p:nvPr/>
        </p:nvSpPr>
        <p:spPr bwMode="auto">
          <a:xfrm>
            <a:off x="7211248" y="4108679"/>
            <a:ext cx="1197219" cy="793750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개선기회 정의 및 유형 분류</a:t>
            </a:r>
          </a:p>
        </p:txBody>
      </p:sp>
      <p:sp>
        <p:nvSpPr>
          <p:cNvPr id="50" name="AutoShape 81"/>
          <p:cNvSpPr>
            <a:spLocks noChangeArrowheads="1"/>
          </p:cNvSpPr>
          <p:nvPr/>
        </p:nvSpPr>
        <p:spPr bwMode="auto">
          <a:xfrm>
            <a:off x="7602031" y="3762379"/>
            <a:ext cx="400050" cy="258763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 algn="ctr">
            <a:solidFill>
              <a:srgbClr val="000000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8000" tIns="10800" rIns="18000" bIns="1080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51" name="오각형 50"/>
          <p:cNvSpPr/>
          <p:nvPr/>
        </p:nvSpPr>
        <p:spPr bwMode="auto">
          <a:xfrm>
            <a:off x="7329154" y="5316973"/>
            <a:ext cx="1196474" cy="864120"/>
          </a:xfrm>
          <a:prstGeom prst="homePlate">
            <a:avLst>
              <a:gd name="adj" fmla="val 25950"/>
            </a:avLst>
          </a:prstGeom>
          <a:solidFill>
            <a:srgbClr val="FFFFFF"/>
          </a:solidFill>
          <a:ln w="1270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  <a:sym typeface="Wingdings" pitchFamily="2" charset="2"/>
              </a:rPr>
              <a:t> 개선기회 상세 정의</a:t>
            </a:r>
          </a:p>
        </p:txBody>
      </p:sp>
      <p:sp>
        <p:nvSpPr>
          <p:cNvPr id="52" name="AutoShape 81"/>
          <p:cNvSpPr>
            <a:spLocks noChangeArrowheads="1"/>
          </p:cNvSpPr>
          <p:nvPr/>
        </p:nvSpPr>
        <p:spPr bwMode="auto">
          <a:xfrm>
            <a:off x="7602031" y="4986487"/>
            <a:ext cx="400050" cy="258763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000000">
              <a:lumMod val="50000"/>
              <a:lumOff val="50000"/>
            </a:srgbClr>
          </a:solidFill>
          <a:ln w="9525" algn="ctr">
            <a:solidFill>
              <a:srgbClr val="000000"/>
            </a:solidFill>
            <a:prstDash val="dash"/>
            <a:miter lim="800000"/>
            <a:headEnd type="none" w="sm" len="sm"/>
            <a:tailEnd/>
          </a:ln>
        </p:spPr>
        <p:txBody>
          <a:bodyPr wrap="none" lIns="18000" tIns="10800" rIns="18000" bIns="1080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60" name="제목 2"/>
          <p:cNvSpPr txBox="1">
            <a:spLocks/>
          </p:cNvSpPr>
          <p:nvPr/>
        </p:nvSpPr>
        <p:spPr>
          <a:xfrm>
            <a:off x="272724" y="576000"/>
            <a:ext cx="9355229" cy="708943"/>
          </a:xfrm>
          <a:prstGeom prst="rect">
            <a:avLst/>
          </a:prstGeom>
        </p:spPr>
        <p:txBody>
          <a:bodyPr vert="horz" lIns="91440" tIns="45720" rIns="91440" bIns="0" rtlCol="0" anchor="t" anchorCtr="0">
            <a:noAutofit/>
          </a:bodyPr>
          <a:lstStyle>
            <a:lvl1pPr algn="l" defTabSz="914400" rtl="0" eaLnBrk="1" latinLnBrk="1" hangingPunct="1">
              <a:lnSpc>
                <a:spcPct val="120000"/>
              </a:lnSpc>
              <a:spcBef>
                <a:spcPct val="0"/>
              </a:spcBef>
              <a:buNone/>
              <a:defRPr sz="17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업무 관련자료 분석과 </a:t>
            </a:r>
            <a:r>
              <a:rPr lang="en-US" altLang="ko-KR"/>
              <a:t>As-Is </a:t>
            </a:r>
            <a:r>
              <a:rPr lang="ko-KR" altLang="en-US"/>
              <a:t>프로세스 맵 검토 및 보완</a:t>
            </a:r>
            <a:r>
              <a:rPr lang="en-US" altLang="ko-KR"/>
              <a:t>, </a:t>
            </a:r>
            <a:r>
              <a:rPr lang="ko-KR" altLang="en-US"/>
              <a:t>선진 프로세스 분석 등의 관점에서 이슈를 파악 후 근본원인 분석을 실시하여 개선기회를 도출하고 개선기회를 정의함</a:t>
            </a:r>
            <a:r>
              <a:rPr lang="ko-KR" altLang="en-US" b="1" kern="0" spc="0">
                <a:solidFill>
                  <a:srgbClr val="000000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/>
            </a:r>
            <a:br>
              <a:rPr lang="ko-KR" altLang="en-US" b="1" kern="0" spc="0">
                <a:solidFill>
                  <a:srgbClr val="000000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</a:br>
            <a:r>
              <a:rPr lang="ko-KR" altLang="en-US" smtClean="0"/>
              <a:t> </a:t>
            </a:r>
            <a:endParaRPr lang="ko-KR" altLang="en-US"/>
          </a:p>
        </p:txBody>
      </p:sp>
      <p:sp>
        <p:nvSpPr>
          <p:cNvPr id="28" name="AutoShape 70"/>
          <p:cNvSpPr>
            <a:spLocks noChangeArrowheads="1"/>
          </p:cNvSpPr>
          <p:nvPr/>
        </p:nvSpPr>
        <p:spPr bwMode="auto">
          <a:xfrm>
            <a:off x="626602" y="4335361"/>
            <a:ext cx="1195754" cy="7572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>
            <a:lvl1pPr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업무 데이터분석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29" name="Text Box 74"/>
          <p:cNvSpPr txBox="1">
            <a:spLocks noChangeArrowheads="1"/>
          </p:cNvSpPr>
          <p:nvPr/>
        </p:nvSpPr>
        <p:spPr bwMode="auto">
          <a:xfrm>
            <a:off x="1960102" y="4506405"/>
            <a:ext cx="21731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92075" indent="-92075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defTabSz="914400" eaLnBrk="1" hangingPunct="1">
              <a:spcBef>
                <a:spcPct val="30000"/>
              </a:spcBef>
              <a:buFont typeface="Wingdings" panose="05000000000000000000" pitchFamily="2" charset="2"/>
              <a:buChar char="§"/>
            </a:pPr>
            <a:r>
              <a:rPr lang="ko-KR" altLang="en-US" sz="1100" b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이슈가 있는 부문의 사내데이터를 분석하여 이슈를 객관적으로 검증</a:t>
            </a:r>
            <a:endParaRPr lang="ko-KR" altLang="en-US" sz="1100" b="0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309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26" y="2931868"/>
            <a:ext cx="3421424" cy="357025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1107918" y="2442367"/>
            <a:ext cx="51412" cy="1340084"/>
            <a:chOff x="1193981" y="2442366"/>
            <a:chExt cx="72000" cy="3228115"/>
          </a:xfrm>
        </p:grpSpPr>
        <p:cxnSp>
          <p:nvCxnSpPr>
            <p:cNvPr id="4" name="직선 연결선 3"/>
            <p:cNvCxnSpPr/>
            <p:nvPr userDrawn="1"/>
          </p:nvCxnSpPr>
          <p:spPr>
            <a:xfrm>
              <a:off x="1214781" y="2442366"/>
              <a:ext cx="13173" cy="316788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타원 4"/>
            <p:cNvSpPr/>
            <p:nvPr userDrawn="1"/>
          </p:nvSpPr>
          <p:spPr>
            <a:xfrm>
              <a:off x="1193981" y="5598481"/>
              <a:ext cx="72000" cy="7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noFill/>
                </a:ln>
                <a:solidFill>
                  <a:schemeClr val="tx2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6" name="타원 5"/>
          <p:cNvSpPr/>
          <p:nvPr/>
        </p:nvSpPr>
        <p:spPr>
          <a:xfrm>
            <a:off x="962167" y="2936648"/>
            <a:ext cx="357025" cy="35702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noFill/>
              </a:ln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7" name="텍스트 개체 틀 25"/>
          <p:cNvSpPr txBox="1">
            <a:spLocks/>
          </p:cNvSpPr>
          <p:nvPr/>
        </p:nvSpPr>
        <p:spPr>
          <a:xfrm>
            <a:off x="949795" y="2997926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02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962167" y="2441522"/>
            <a:ext cx="357025" cy="357025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9" name="텍스트 개체 틀 25"/>
          <p:cNvSpPr txBox="1">
            <a:spLocks/>
          </p:cNvSpPr>
          <p:nvPr/>
        </p:nvSpPr>
        <p:spPr>
          <a:xfrm>
            <a:off x="949795" y="2502800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01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962167" y="3425425"/>
            <a:ext cx="357025" cy="35702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1" name="텍스트 개체 틀 25"/>
          <p:cNvSpPr txBox="1">
            <a:spLocks/>
          </p:cNvSpPr>
          <p:nvPr/>
        </p:nvSpPr>
        <p:spPr>
          <a:xfrm>
            <a:off x="949795" y="3486703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03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6" name="텍스트 개체 틀 26"/>
          <p:cNvSpPr txBox="1">
            <a:spLocks/>
          </p:cNvSpPr>
          <p:nvPr/>
        </p:nvSpPr>
        <p:spPr>
          <a:xfrm>
            <a:off x="1500997" y="2276475"/>
            <a:ext cx="4235019" cy="35361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0" eaLnBrk="1" latinLnBrk="1" hangingPunct="1">
              <a:lnSpc>
                <a:spcPct val="2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0" baseline="0">
                <a:solidFill>
                  <a:schemeClr val="bg1">
                    <a:lumMod val="6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00000"/>
              </a:lnSpc>
            </a:pPr>
            <a:r>
              <a:rPr lang="ko-KR" altLang="en-US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이슈 분석 </a:t>
            </a:r>
            <a:r>
              <a:rPr lang="en-US" altLang="ko-KR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Approach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  <a:p>
            <a:pPr algn="l">
              <a:lnSpc>
                <a:spcPct val="200000"/>
              </a:lnSpc>
            </a:pPr>
            <a:r>
              <a:rPr lang="ko-KR" altLang="en-US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영역별 이슈 및 원인분석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개선기회 도출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893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AutoShape 5"/>
          <p:cNvCxnSpPr>
            <a:cxnSpLocks noChangeShapeType="1"/>
            <a:stCxn id="51" idx="2"/>
            <a:endCxn id="53" idx="0"/>
          </p:cNvCxnSpPr>
          <p:nvPr/>
        </p:nvCxnSpPr>
        <p:spPr bwMode="auto">
          <a:xfrm flipH="1">
            <a:off x="4829099" y="3084383"/>
            <a:ext cx="4132" cy="1030689"/>
          </a:xfrm>
          <a:prstGeom prst="straightConnector1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</p:cxnSp>
      <p:cxnSp>
        <p:nvCxnSpPr>
          <p:cNvPr id="60" name="AutoShape 5"/>
          <p:cNvCxnSpPr>
            <a:cxnSpLocks noChangeShapeType="1"/>
            <a:stCxn id="103" idx="2"/>
            <a:endCxn id="137" idx="0"/>
          </p:cNvCxnSpPr>
          <p:nvPr/>
        </p:nvCxnSpPr>
        <p:spPr bwMode="auto">
          <a:xfrm>
            <a:off x="8008152" y="3088209"/>
            <a:ext cx="2217" cy="1953637"/>
          </a:xfrm>
          <a:prstGeom prst="straightConnector1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</p:cxnSp>
      <p:cxnSp>
        <p:nvCxnSpPr>
          <p:cNvPr id="55" name="AutoShape 5"/>
          <p:cNvCxnSpPr>
            <a:cxnSpLocks noChangeShapeType="1"/>
            <a:stCxn id="111" idx="2"/>
            <a:endCxn id="87" idx="0"/>
          </p:cNvCxnSpPr>
          <p:nvPr/>
        </p:nvCxnSpPr>
        <p:spPr bwMode="auto">
          <a:xfrm>
            <a:off x="3774924" y="3097262"/>
            <a:ext cx="3731" cy="1958652"/>
          </a:xfrm>
          <a:prstGeom prst="straightConnector1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</p:cxn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_D-CUBE TF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96" name="Rectangle 3"/>
          <p:cNvSpPr>
            <a:spLocks noChangeArrowheads="1"/>
          </p:cNvSpPr>
          <p:nvPr/>
        </p:nvSpPr>
        <p:spPr bwMode="auto">
          <a:xfrm>
            <a:off x="244726" y="1311275"/>
            <a:ext cx="8653096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10800"/>
          <a:lstStyle/>
          <a:p>
            <a:pPr defTabSz="914400" latinLnBrk="1">
              <a:lnSpc>
                <a:spcPct val="120000"/>
              </a:lnSpc>
              <a:spcBef>
                <a:spcPct val="30000"/>
              </a:spcBef>
            </a:pPr>
            <a:endParaRPr kumimoji="1" lang="en-US" altLang="ko-KR" sz="1100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97" name="Oval 6"/>
          <p:cNvSpPr>
            <a:spLocks noChangeArrowheads="1"/>
          </p:cNvSpPr>
          <p:nvPr/>
        </p:nvSpPr>
        <p:spPr bwMode="gray">
          <a:xfrm>
            <a:off x="347922" y="1791100"/>
            <a:ext cx="638908" cy="485775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Mega</a:t>
            </a:r>
          </a:p>
        </p:txBody>
      </p:sp>
      <p:sp>
        <p:nvSpPr>
          <p:cNvPr id="98" name="Oval 7"/>
          <p:cNvSpPr>
            <a:spLocks noChangeArrowheads="1"/>
          </p:cNvSpPr>
          <p:nvPr/>
        </p:nvSpPr>
        <p:spPr bwMode="gray">
          <a:xfrm>
            <a:off x="347922" y="2682236"/>
            <a:ext cx="638908" cy="485775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Major</a:t>
            </a:r>
            <a:endParaRPr kumimoji="0" lang="ko-KR" altLang="en-US" sz="11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99" name="Oval 8"/>
          <p:cNvSpPr>
            <a:spLocks noChangeArrowheads="1"/>
          </p:cNvSpPr>
          <p:nvPr/>
        </p:nvSpPr>
        <p:spPr bwMode="gray">
          <a:xfrm>
            <a:off x="347922" y="3573021"/>
            <a:ext cx="638908" cy="485775"/>
          </a:xfrm>
          <a:prstGeom prst="ellipse">
            <a:avLst/>
          </a:prstGeom>
          <a:solidFill>
            <a:srgbClr val="FFFFFF">
              <a:lumMod val="95000"/>
            </a:srgbClr>
          </a:solidFill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Sub</a:t>
            </a:r>
          </a:p>
        </p:txBody>
      </p:sp>
      <p:sp>
        <p:nvSpPr>
          <p:cNvPr id="100" name="Rectangle 44"/>
          <p:cNvSpPr txBox="1">
            <a:spLocks noChangeArrowheads="1"/>
          </p:cNvSpPr>
          <p:nvPr/>
        </p:nvSpPr>
        <p:spPr bwMode="auto">
          <a:xfrm>
            <a:off x="6766276" y="44803"/>
            <a:ext cx="2826124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342900" indent="-342900" algn="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2. </a:t>
            </a:r>
            <a:r>
              <a:rPr lang="ko-KR" altLang="en-US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영역 별 이슈 및 원인 분석서</a:t>
            </a:r>
          </a:p>
        </p:txBody>
      </p:sp>
      <p:cxnSp>
        <p:nvCxnSpPr>
          <p:cNvPr id="101" name="AutoShape 5"/>
          <p:cNvCxnSpPr>
            <a:cxnSpLocks noChangeShapeType="1"/>
            <a:stCxn id="102" idx="2"/>
            <a:endCxn id="80" idx="0"/>
          </p:cNvCxnSpPr>
          <p:nvPr/>
        </p:nvCxnSpPr>
        <p:spPr bwMode="auto">
          <a:xfrm>
            <a:off x="2716617" y="3097262"/>
            <a:ext cx="9021" cy="2462957"/>
          </a:xfrm>
          <a:prstGeom prst="straightConnector1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</p:cxnSp>
      <p:sp>
        <p:nvSpPr>
          <p:cNvPr id="102" name="AutoShape 9"/>
          <p:cNvSpPr>
            <a:spLocks noChangeArrowheads="1"/>
          </p:cNvSpPr>
          <p:nvPr/>
        </p:nvSpPr>
        <p:spPr bwMode="auto">
          <a:xfrm>
            <a:off x="2248617" y="2746424"/>
            <a:ext cx="936000" cy="350838"/>
          </a:xfrm>
          <a:prstGeom prst="roundRect">
            <a:avLst>
              <a:gd name="adj" fmla="val 16667"/>
            </a:avLst>
          </a:prstGeom>
          <a:solidFill>
            <a:srgbClr val="FFFFFF">
              <a:lumMod val="85000"/>
            </a:srgbClr>
          </a:solidFill>
          <a:ln w="952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주문관리</a:t>
            </a:r>
            <a:endParaRPr kumimoji="0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03" name="AutoShape 10"/>
          <p:cNvSpPr>
            <a:spLocks noChangeArrowheads="1"/>
          </p:cNvSpPr>
          <p:nvPr/>
        </p:nvSpPr>
        <p:spPr bwMode="auto">
          <a:xfrm>
            <a:off x="7540152" y="2737371"/>
            <a:ext cx="936000" cy="350838"/>
          </a:xfrm>
          <a:prstGeom prst="roundRect">
            <a:avLst>
              <a:gd name="adj" fmla="val 16667"/>
            </a:avLst>
          </a:prstGeom>
          <a:solidFill>
            <a:srgbClr val="FFFFFF">
              <a:lumMod val="85000"/>
            </a:srgbClr>
          </a:solidFill>
          <a:ln w="952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수출관리</a:t>
            </a:r>
            <a:endParaRPr kumimoji="0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cxnSp>
        <p:nvCxnSpPr>
          <p:cNvPr id="105" name="AutoShape 12"/>
          <p:cNvCxnSpPr>
            <a:cxnSpLocks noChangeShapeType="1"/>
            <a:stCxn id="135" idx="2"/>
            <a:endCxn id="102" idx="0"/>
          </p:cNvCxnSpPr>
          <p:nvPr/>
        </p:nvCxnSpPr>
        <p:spPr bwMode="auto">
          <a:xfrm rot="5400000">
            <a:off x="2869265" y="2133406"/>
            <a:ext cx="460371" cy="76566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</p:cxnSp>
      <p:cxnSp>
        <p:nvCxnSpPr>
          <p:cNvPr id="106" name="AutoShape 13"/>
          <p:cNvCxnSpPr>
            <a:cxnSpLocks noChangeShapeType="1"/>
            <a:stCxn id="135" idx="2"/>
            <a:endCxn id="103" idx="0"/>
          </p:cNvCxnSpPr>
          <p:nvPr/>
        </p:nvCxnSpPr>
        <p:spPr bwMode="auto">
          <a:xfrm rot="16200000" flipH="1">
            <a:off x="5519558" y="248777"/>
            <a:ext cx="451318" cy="452587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</p:cxnSp>
      <p:sp>
        <p:nvSpPr>
          <p:cNvPr id="107" name="Text Box 14"/>
          <p:cNvSpPr txBox="1">
            <a:spLocks noChangeArrowheads="1"/>
          </p:cNvSpPr>
          <p:nvPr/>
        </p:nvSpPr>
        <p:spPr bwMode="auto">
          <a:xfrm>
            <a:off x="2219473" y="4126656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주문접수</a:t>
            </a:r>
            <a:r>
              <a:rPr kumimoji="1" lang="en-US" altLang="ko-KR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/</a:t>
            </a: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등록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08" name="Text Box 15"/>
          <p:cNvSpPr txBox="1">
            <a:spLocks noChangeArrowheads="1"/>
          </p:cNvSpPr>
          <p:nvPr/>
        </p:nvSpPr>
        <p:spPr bwMode="auto">
          <a:xfrm>
            <a:off x="2219473" y="3651995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견적</a:t>
            </a: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관리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09" name="Text Box 27"/>
          <p:cNvSpPr txBox="1">
            <a:spLocks noChangeArrowheads="1"/>
          </p:cNvSpPr>
          <p:nvPr/>
        </p:nvSpPr>
        <p:spPr bwMode="auto">
          <a:xfrm>
            <a:off x="7510433" y="4109845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400" latinLnBrk="1"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선적서류관리</a:t>
            </a:r>
            <a:endParaRPr kumimoji="1" lang="ko-KR" altLang="en-US" sz="1100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10" name="Text Box 28"/>
          <p:cNvSpPr txBox="1">
            <a:spLocks noChangeArrowheads="1"/>
          </p:cNvSpPr>
          <p:nvPr/>
        </p:nvSpPr>
        <p:spPr bwMode="auto">
          <a:xfrm>
            <a:off x="7510433" y="3635003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배선스케쥴관리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11" name="AutoShape 29"/>
          <p:cNvSpPr>
            <a:spLocks noChangeArrowheads="1"/>
          </p:cNvSpPr>
          <p:nvPr/>
        </p:nvSpPr>
        <p:spPr bwMode="auto">
          <a:xfrm>
            <a:off x="3306924" y="2746424"/>
            <a:ext cx="936000" cy="350838"/>
          </a:xfrm>
          <a:prstGeom prst="roundRect">
            <a:avLst>
              <a:gd name="adj" fmla="val 16667"/>
            </a:avLst>
          </a:prstGeom>
          <a:solidFill>
            <a:srgbClr val="FFFFFF">
              <a:lumMod val="85000"/>
            </a:srgbClr>
          </a:solidFill>
          <a:ln w="952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재고</a:t>
            </a:r>
            <a:r>
              <a:rPr kumimoji="0" lang="en-US" altLang="ko-KR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/</a:t>
            </a:r>
            <a:r>
              <a:rPr kumimoji="0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출하관리</a:t>
            </a:r>
            <a:endParaRPr kumimoji="0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13" name="Text Box 31"/>
          <p:cNvSpPr txBox="1">
            <a:spLocks noChangeArrowheads="1"/>
          </p:cNvSpPr>
          <p:nvPr/>
        </p:nvSpPr>
        <p:spPr bwMode="auto">
          <a:xfrm>
            <a:off x="3281286" y="3644056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lvl="0" algn="ctr" defTabSz="914400" latinLnBrk="1">
              <a:defRPr/>
            </a:pPr>
            <a:r>
              <a:rPr kumimoji="1" lang="ko-KR" altLang="en-US" sz="1100" ker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재고조회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cxnSp>
        <p:nvCxnSpPr>
          <p:cNvPr id="114" name="AutoShape 34"/>
          <p:cNvCxnSpPr>
            <a:cxnSpLocks noChangeShapeType="1"/>
            <a:stCxn id="135" idx="2"/>
            <a:endCxn id="111" idx="0"/>
          </p:cNvCxnSpPr>
          <p:nvPr/>
        </p:nvCxnSpPr>
        <p:spPr bwMode="auto">
          <a:xfrm rot="16200000" flipH="1">
            <a:off x="3398418" y="2369917"/>
            <a:ext cx="460371" cy="29264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</p:cxnSp>
      <p:cxnSp>
        <p:nvCxnSpPr>
          <p:cNvPr id="115" name="AutoShape 36"/>
          <p:cNvCxnSpPr>
            <a:cxnSpLocks noChangeShapeType="1"/>
            <a:stCxn id="116" idx="2"/>
            <a:endCxn id="118" idx="2"/>
          </p:cNvCxnSpPr>
          <p:nvPr/>
        </p:nvCxnSpPr>
        <p:spPr bwMode="auto">
          <a:xfrm flipH="1">
            <a:off x="1652713" y="3097262"/>
            <a:ext cx="5597" cy="1404223"/>
          </a:xfrm>
          <a:prstGeom prst="straightConnector1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</p:cxnSp>
      <p:sp>
        <p:nvSpPr>
          <p:cNvPr id="116" name="AutoShape 37"/>
          <p:cNvSpPr>
            <a:spLocks noChangeArrowheads="1"/>
          </p:cNvSpPr>
          <p:nvPr/>
        </p:nvSpPr>
        <p:spPr bwMode="auto">
          <a:xfrm>
            <a:off x="1190310" y="2746424"/>
            <a:ext cx="936000" cy="350838"/>
          </a:xfrm>
          <a:prstGeom prst="roundRect">
            <a:avLst>
              <a:gd name="adj" fmla="val 16667"/>
            </a:avLst>
          </a:prstGeom>
          <a:solidFill>
            <a:srgbClr val="FFFFFF">
              <a:lumMod val="85000"/>
            </a:srgbClr>
          </a:solidFill>
          <a:ln w="952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기준정보</a:t>
            </a:r>
            <a:endParaRPr kumimoji="0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cxnSp>
        <p:nvCxnSpPr>
          <p:cNvPr id="117" name="AutoShape 38"/>
          <p:cNvCxnSpPr>
            <a:cxnSpLocks noChangeShapeType="1"/>
            <a:stCxn id="135" idx="2"/>
            <a:endCxn id="116" idx="0"/>
          </p:cNvCxnSpPr>
          <p:nvPr/>
        </p:nvCxnSpPr>
        <p:spPr bwMode="auto">
          <a:xfrm rot="5400000">
            <a:off x="2340111" y="1604252"/>
            <a:ext cx="460371" cy="182397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</p:cxnSp>
      <p:sp>
        <p:nvSpPr>
          <p:cNvPr id="118" name="Text Box 39"/>
          <p:cNvSpPr txBox="1">
            <a:spLocks noChangeArrowheads="1"/>
          </p:cNvSpPr>
          <p:nvPr/>
        </p:nvSpPr>
        <p:spPr bwMode="auto">
          <a:xfrm>
            <a:off x="1166713" y="4106198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400" latinLnBrk="1"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가격관리</a:t>
            </a:r>
            <a:endParaRPr kumimoji="1" lang="ko-KR" altLang="en-US" sz="1100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19" name="Text Box 42"/>
          <p:cNvSpPr txBox="1">
            <a:spLocks noChangeArrowheads="1"/>
          </p:cNvSpPr>
          <p:nvPr/>
        </p:nvSpPr>
        <p:spPr bwMode="auto">
          <a:xfrm>
            <a:off x="1166713" y="3631356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고객정보관리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20" name="Text Box 14"/>
          <p:cNvSpPr txBox="1">
            <a:spLocks noChangeArrowheads="1"/>
          </p:cNvSpPr>
          <p:nvPr/>
        </p:nvSpPr>
        <p:spPr bwMode="auto">
          <a:xfrm>
            <a:off x="2239637" y="5049936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lvl="0" algn="ctr" defTabSz="914400" latinLnBrk="1">
              <a:defRPr/>
            </a:pPr>
            <a:r>
              <a:rPr kumimoji="1" lang="ko-KR" altLang="en-US" sz="1100" ker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상품발주</a:t>
            </a:r>
            <a:endParaRPr kumimoji="1" lang="ko-KR" altLang="en-US" sz="1100" kern="0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21" name="Text Box 15"/>
          <p:cNvSpPr txBox="1">
            <a:spLocks noChangeArrowheads="1"/>
          </p:cNvSpPr>
          <p:nvPr/>
        </p:nvSpPr>
        <p:spPr bwMode="auto">
          <a:xfrm>
            <a:off x="2234826" y="4575453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주문진행관리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23" name="Text Box 31"/>
          <p:cNvSpPr txBox="1">
            <a:spLocks noChangeArrowheads="1"/>
          </p:cNvSpPr>
          <p:nvPr/>
        </p:nvSpPr>
        <p:spPr bwMode="auto">
          <a:xfrm>
            <a:off x="3281286" y="4113832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재고할당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grpSp>
        <p:nvGrpSpPr>
          <p:cNvPr id="124" name="그룹 109"/>
          <p:cNvGrpSpPr/>
          <p:nvPr/>
        </p:nvGrpSpPr>
        <p:grpSpPr>
          <a:xfrm>
            <a:off x="1148023" y="1685978"/>
            <a:ext cx="7679105" cy="600075"/>
            <a:chOff x="1066800" y="1073150"/>
            <a:chExt cx="6282047" cy="600075"/>
          </a:xfrm>
        </p:grpSpPr>
        <p:sp>
          <p:nvSpPr>
            <p:cNvPr id="125" name="AutoShape 17"/>
            <p:cNvSpPr>
              <a:spLocks noChangeArrowheads="1"/>
            </p:cNvSpPr>
            <p:nvPr/>
          </p:nvSpPr>
          <p:spPr bwMode="gray">
            <a:xfrm>
              <a:off x="1881047" y="1073150"/>
              <a:ext cx="774102" cy="600075"/>
            </a:xfrm>
            <a:prstGeom prst="homePlate">
              <a:avLst>
                <a:gd name="adj" fmla="val 30146"/>
              </a:avLst>
            </a:prstGeom>
            <a:solidFill>
              <a:srgbClr val="A9B1C2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4400">
                <a:spcBef>
                  <a:spcPct val="0"/>
                </a:spcBef>
              </a:pPr>
              <a:r>
                <a:rPr kumimoji="1" lang="en-US" altLang="ko-KR" sz="1100" b="1" kern="0">
                  <a:solidFill>
                    <a:srgbClr val="FFFFFF"/>
                  </a:solidFill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01</a:t>
              </a:r>
              <a:br>
                <a:rPr kumimoji="1" lang="en-US" altLang="ko-KR" sz="1100" b="1" kern="0">
                  <a:solidFill>
                    <a:srgbClr val="FFFFFF"/>
                  </a:solidFill>
                  <a:latin typeface="본고딕 Normal" panose="020B0400000000000000" pitchFamily="34" charset="-127"/>
                  <a:ea typeface="본고딕 Normal" panose="020B0400000000000000" pitchFamily="34" charset="-127"/>
                </a:rPr>
              </a:br>
              <a:r>
                <a:rPr kumimoji="1" lang="ko-KR" altLang="en-US" sz="1100" b="1" kern="0">
                  <a:solidFill>
                    <a:srgbClr val="FFFFFF"/>
                  </a:solidFill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손익계획</a:t>
              </a:r>
              <a:endParaRPr kumimoji="1" lang="ko-KR" altLang="en-US" sz="1100" b="1" kern="0" dirty="0">
                <a:solidFill>
                  <a:srgbClr val="FFFFFF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</p:txBody>
        </p:sp>
        <p:sp>
          <p:nvSpPr>
            <p:cNvPr id="126" name="AutoShape 18"/>
            <p:cNvSpPr>
              <a:spLocks noChangeArrowheads="1"/>
            </p:cNvSpPr>
            <p:nvPr/>
          </p:nvSpPr>
          <p:spPr bwMode="gray">
            <a:xfrm>
              <a:off x="3445613" y="1073150"/>
              <a:ext cx="774102" cy="600075"/>
            </a:xfrm>
            <a:prstGeom prst="homePlate">
              <a:avLst>
                <a:gd name="adj" fmla="val 30146"/>
              </a:avLst>
            </a:prstGeom>
            <a:solidFill>
              <a:srgbClr val="B1C3EF">
                <a:lumMod val="25000"/>
                <a:alpha val="36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 anchorCtr="1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03</a:t>
              </a:r>
              <a:b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</a:br>
              <a:r>
                <a:rPr kumimoji="0" lang="ko-KR" altLang="en-US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품질설계</a:t>
              </a:r>
              <a:endParaRPr kumimoji="0" lang="ko-KR" altLang="en-US" sz="11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</p:txBody>
        </p:sp>
        <p:sp>
          <p:nvSpPr>
            <p:cNvPr id="127" name="AutoShape 19"/>
            <p:cNvSpPr>
              <a:spLocks noChangeArrowheads="1"/>
            </p:cNvSpPr>
            <p:nvPr/>
          </p:nvSpPr>
          <p:spPr bwMode="gray">
            <a:xfrm>
              <a:off x="5010179" y="1073150"/>
              <a:ext cx="774102" cy="600075"/>
            </a:xfrm>
            <a:prstGeom prst="homePlate">
              <a:avLst>
                <a:gd name="adj" fmla="val 30146"/>
              </a:avLst>
            </a:prstGeom>
            <a:solidFill>
              <a:srgbClr val="B1C3EF">
                <a:lumMod val="25000"/>
                <a:alpha val="36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 anchorCtr="1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05</a:t>
              </a:r>
            </a:p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조업</a:t>
              </a:r>
              <a:endParaRPr kumimoji="0" lang="en-US" altLang="ko-KR" sz="1100" b="1" i="0" u="none" strike="noStrike" kern="0" cap="none" spc="0" normalizeH="0" baseline="3000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</p:txBody>
        </p:sp>
        <p:sp>
          <p:nvSpPr>
            <p:cNvPr id="128" name="AutoShape 20"/>
            <p:cNvSpPr>
              <a:spLocks noChangeArrowheads="1"/>
            </p:cNvSpPr>
            <p:nvPr/>
          </p:nvSpPr>
          <p:spPr bwMode="gray">
            <a:xfrm>
              <a:off x="1066800" y="1073150"/>
              <a:ext cx="806066" cy="600075"/>
            </a:xfrm>
            <a:prstGeom prst="homePlate">
              <a:avLst>
                <a:gd name="adj" fmla="val 31391"/>
              </a:avLst>
            </a:prstGeom>
            <a:solidFill>
              <a:srgbClr val="A9B1C2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 lIns="0" tIns="0" rIns="0" bIns="0" anchor="ctr" anchorCtr="1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00</a:t>
              </a:r>
            </a:p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기준</a:t>
              </a:r>
              <a:r>
                <a:rPr lang="ko-KR" altLang="en-US" sz="1100" b="1" kern="0" smtClean="0">
                  <a:solidFill>
                    <a:srgbClr val="FFFFFF"/>
                  </a:solidFill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정보</a:t>
              </a:r>
              <a:endParaRPr kumimoji="0" lang="ko-KR" altLang="en-US" sz="11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</p:txBody>
        </p:sp>
        <p:sp>
          <p:nvSpPr>
            <p:cNvPr id="129" name="AutoShape 21"/>
            <p:cNvSpPr>
              <a:spLocks noChangeArrowheads="1"/>
            </p:cNvSpPr>
            <p:nvPr/>
          </p:nvSpPr>
          <p:spPr bwMode="gray">
            <a:xfrm>
              <a:off x="5792462" y="1073150"/>
              <a:ext cx="774102" cy="600075"/>
            </a:xfrm>
            <a:prstGeom prst="homePlate">
              <a:avLst>
                <a:gd name="adj" fmla="val 30146"/>
              </a:avLst>
            </a:prstGeom>
            <a:solidFill>
              <a:srgbClr val="B1C3EF">
                <a:lumMod val="25000"/>
                <a:alpha val="36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 anchorCtr="1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06</a:t>
              </a:r>
            </a:p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출하</a:t>
              </a:r>
              <a:endParaRPr kumimoji="0" lang="en-US" altLang="ko-KR" sz="1100" b="1" i="0" u="none" strike="noStrike" kern="0" cap="none" spc="0" normalizeH="0" baseline="3000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</p:txBody>
        </p:sp>
        <p:sp>
          <p:nvSpPr>
            <p:cNvPr id="130" name="AutoShape 22"/>
            <p:cNvSpPr>
              <a:spLocks noChangeArrowheads="1"/>
            </p:cNvSpPr>
            <p:nvPr/>
          </p:nvSpPr>
          <p:spPr bwMode="gray">
            <a:xfrm>
              <a:off x="6574745" y="1073150"/>
              <a:ext cx="774102" cy="600075"/>
            </a:xfrm>
            <a:prstGeom prst="homePlate">
              <a:avLst>
                <a:gd name="adj" fmla="val 30146"/>
              </a:avLst>
            </a:prstGeom>
            <a:solidFill>
              <a:srgbClr val="B1C3EF">
                <a:lumMod val="25000"/>
                <a:alpha val="36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 anchorCtr="1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07</a:t>
              </a:r>
              <a:endParaRPr kumimoji="0" lang="en-US" altLang="ko-KR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원가</a:t>
              </a:r>
              <a:endParaRPr kumimoji="0" lang="ko-KR" altLang="en-US" sz="11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</p:txBody>
        </p:sp>
        <p:sp>
          <p:nvSpPr>
            <p:cNvPr id="134" name="AutoShape 26"/>
            <p:cNvSpPr>
              <a:spLocks noChangeArrowheads="1"/>
            </p:cNvSpPr>
            <p:nvPr/>
          </p:nvSpPr>
          <p:spPr bwMode="gray">
            <a:xfrm>
              <a:off x="4227896" y="1073150"/>
              <a:ext cx="774102" cy="600075"/>
            </a:xfrm>
            <a:prstGeom prst="homePlate">
              <a:avLst>
                <a:gd name="adj" fmla="val 30146"/>
              </a:avLst>
            </a:prstGeom>
            <a:solidFill>
              <a:srgbClr val="B1C3EF">
                <a:lumMod val="25000"/>
                <a:alpha val="36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 anchorCtr="1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04</a:t>
              </a:r>
              <a:b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</a:br>
              <a:r>
                <a:rPr kumimoji="0" lang="ko-KR" altLang="en-US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생산계획</a:t>
              </a:r>
              <a:endParaRPr kumimoji="0" lang="ko-KR" altLang="en-US" sz="11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</p:txBody>
        </p:sp>
        <p:sp>
          <p:nvSpPr>
            <p:cNvPr id="135" name="AutoShape 17"/>
            <p:cNvSpPr>
              <a:spLocks noChangeArrowheads="1"/>
            </p:cNvSpPr>
            <p:nvPr/>
          </p:nvSpPr>
          <p:spPr bwMode="gray">
            <a:xfrm>
              <a:off x="2663330" y="1073150"/>
              <a:ext cx="774102" cy="600075"/>
            </a:xfrm>
            <a:prstGeom prst="homePlate">
              <a:avLst>
                <a:gd name="adj" fmla="val 30146"/>
              </a:avLst>
            </a:prstGeom>
            <a:solidFill>
              <a:srgbClr val="1D1F6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 anchor="ctr" anchorCtr="1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02 </a:t>
              </a:r>
              <a:br>
                <a:rPr kumimoji="0" lang="en-US" altLang="ko-KR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</a:br>
              <a:r>
                <a:rPr kumimoji="0" lang="ko-KR" altLang="en-US" sz="1100" b="1" i="0" u="none" strike="noStrike" kern="0" cap="none" spc="0" normalizeH="0" baseline="0" noProof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영업</a:t>
              </a:r>
              <a:endParaRPr kumimoji="0" lang="ko-KR" altLang="en-US" sz="1100" b="1" i="0" u="none" strike="noStrike" kern="0" cap="none" spc="0" normalizeH="0" baseline="3000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</p:txBody>
        </p:sp>
      </p:grpSp>
      <p:sp>
        <p:nvSpPr>
          <p:cNvPr id="138" name="제목 2"/>
          <p:cNvSpPr txBox="1">
            <a:spLocks/>
          </p:cNvSpPr>
          <p:nvPr/>
        </p:nvSpPr>
        <p:spPr>
          <a:xfrm>
            <a:off x="272724" y="576000"/>
            <a:ext cx="9355229" cy="708943"/>
          </a:xfrm>
          <a:prstGeom prst="rect">
            <a:avLst/>
          </a:prstGeom>
        </p:spPr>
        <p:txBody>
          <a:bodyPr vert="horz" lIns="91440" tIns="45720" rIns="91440" bIns="0" rtlCol="0" anchor="t" anchorCtr="0">
            <a:noAutofit/>
          </a:bodyPr>
          <a:lstStyle>
            <a:lvl1pPr algn="l" defTabSz="914400" rtl="0" eaLnBrk="1" latinLnBrk="1" hangingPunct="1">
              <a:lnSpc>
                <a:spcPct val="120000"/>
              </a:lnSpc>
              <a:spcBef>
                <a:spcPct val="0"/>
              </a:spcBef>
              <a:buNone/>
              <a:defRPr sz="17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kern="0" spc="0">
                <a:solidFill>
                  <a:srgbClr val="000000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/>
            </a:r>
            <a:br>
              <a:rPr lang="ko-KR" altLang="en-US" b="1" kern="0" spc="0">
                <a:solidFill>
                  <a:srgbClr val="000000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</a:br>
            <a:r>
              <a:rPr lang="ko-KR" altLang="en-US" smtClean="0"/>
              <a:t> </a:t>
            </a:r>
            <a:endParaRPr lang="ko-KR" altLang="en-US"/>
          </a:p>
        </p:txBody>
      </p:sp>
      <p:sp>
        <p:nvSpPr>
          <p:cNvPr id="145" name="제목 2"/>
          <p:cNvSpPr>
            <a:spLocks noGrp="1"/>
          </p:cNvSpPr>
          <p:nvPr>
            <p:ph type="title"/>
          </p:nvPr>
        </p:nvSpPr>
        <p:spPr>
          <a:xfrm>
            <a:off x="272724" y="576000"/>
            <a:ext cx="9355229" cy="708943"/>
          </a:xfrm>
        </p:spPr>
        <p:txBody>
          <a:bodyPr/>
          <a:lstStyle/>
          <a:p>
            <a:r>
              <a:rPr lang="ko-KR" altLang="en-US" smtClean="0"/>
              <a:t>현행 영업관리 프로세스는 기준정보</a:t>
            </a:r>
            <a:r>
              <a:rPr lang="en-US" altLang="ko-KR" smtClean="0"/>
              <a:t>,</a:t>
            </a:r>
            <a:r>
              <a:rPr lang="ko-KR" altLang="en-US" smtClean="0"/>
              <a:t>주문관리</a:t>
            </a:r>
            <a:r>
              <a:rPr lang="en-US" altLang="ko-KR" smtClean="0"/>
              <a:t>,</a:t>
            </a:r>
            <a:r>
              <a:rPr lang="ko-KR" altLang="en-US" smtClean="0"/>
              <a:t>재고</a:t>
            </a:r>
            <a:r>
              <a:rPr lang="en-US" altLang="ko-KR" smtClean="0"/>
              <a:t>/</a:t>
            </a:r>
            <a:r>
              <a:rPr lang="ko-KR" altLang="en-US" smtClean="0"/>
              <a:t>출하관리 등 </a:t>
            </a:r>
            <a:r>
              <a:rPr lang="en-US" altLang="ko-KR" smtClean="0"/>
              <a:t>8</a:t>
            </a:r>
            <a:r>
              <a:rPr lang="ko-KR" altLang="en-US" smtClean="0"/>
              <a:t>개의 </a:t>
            </a:r>
            <a:r>
              <a:rPr lang="en-US" altLang="ko-KR" smtClean="0"/>
              <a:t>Major </a:t>
            </a:r>
            <a:r>
              <a:rPr lang="ko-KR" altLang="en-US" smtClean="0"/>
              <a:t>프로세스와 </a:t>
            </a:r>
            <a:r>
              <a:rPr lang="en-US" altLang="ko-KR" smtClean="0"/>
              <a:t>25</a:t>
            </a:r>
            <a:r>
              <a:rPr lang="ko-KR" altLang="en-US" smtClean="0"/>
              <a:t>개의 </a:t>
            </a:r>
            <a:r>
              <a:rPr lang="en-US" altLang="ko-KR" smtClean="0"/>
              <a:t>Sub </a:t>
            </a:r>
            <a:r>
              <a:rPr lang="ko-KR" altLang="en-US" smtClean="0"/>
              <a:t>프로세스로 구성됨</a:t>
            </a:r>
            <a:br>
              <a:rPr lang="ko-KR" altLang="en-US" smtClean="0"/>
            </a:br>
            <a:endParaRPr lang="ko-KR" altLang="en-US"/>
          </a:p>
        </p:txBody>
      </p:sp>
      <p:sp>
        <p:nvSpPr>
          <p:cNvPr id="146" name="텍스트 개체 틀 3"/>
          <p:cNvSpPr>
            <a:spLocks noGrp="1"/>
          </p:cNvSpPr>
          <p:nvPr>
            <p:ph type="body" sz="quarter" idx="19"/>
          </p:nvPr>
        </p:nvSpPr>
        <p:spPr>
          <a:xfrm>
            <a:off x="272833" y="134345"/>
            <a:ext cx="6172693" cy="443198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ko-KR"/>
              <a:t>As-Is </a:t>
            </a:r>
            <a:r>
              <a:rPr lang="ko-KR" altLang="en-US"/>
              <a:t>프로세스 체계 </a:t>
            </a:r>
            <a:r>
              <a:rPr lang="en-US" altLang="ko-KR"/>
              <a:t>– </a:t>
            </a:r>
            <a:r>
              <a:rPr lang="en-US" altLang="ko-KR" smtClean="0"/>
              <a:t>02_</a:t>
            </a:r>
            <a:r>
              <a:rPr lang="ko-KR" altLang="en-US" smtClean="0"/>
              <a:t>영업관리</a:t>
            </a:r>
            <a:r>
              <a:rPr lang="en-US" altLang="ko-KR" smtClean="0"/>
              <a:t>(</a:t>
            </a:r>
            <a:r>
              <a:rPr lang="en-US" altLang="ko-KR"/>
              <a:t>1/2)</a:t>
            </a:r>
          </a:p>
        </p:txBody>
      </p:sp>
      <p:sp>
        <p:nvSpPr>
          <p:cNvPr id="51" name="AutoShape 10"/>
          <p:cNvSpPr>
            <a:spLocks noChangeArrowheads="1"/>
          </p:cNvSpPr>
          <p:nvPr/>
        </p:nvSpPr>
        <p:spPr bwMode="auto">
          <a:xfrm>
            <a:off x="4365231" y="2733545"/>
            <a:ext cx="936000" cy="350838"/>
          </a:xfrm>
          <a:prstGeom prst="roundRect">
            <a:avLst>
              <a:gd name="adj" fmla="val 16667"/>
            </a:avLst>
          </a:prstGeom>
          <a:solidFill>
            <a:srgbClr val="FFFFFF">
              <a:lumMod val="85000"/>
            </a:srgbClr>
          </a:solidFill>
          <a:ln w="952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defTabSz="914400" latinLnBrk="1">
              <a:defRPr/>
            </a:pPr>
            <a:r>
              <a:rPr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매출채권관리</a:t>
            </a:r>
            <a:endParaRPr lang="ko-KR" altLang="en-US" sz="1100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53" name="Text Box 27"/>
          <p:cNvSpPr txBox="1">
            <a:spLocks noChangeArrowheads="1"/>
          </p:cNvSpPr>
          <p:nvPr/>
        </p:nvSpPr>
        <p:spPr bwMode="auto">
          <a:xfrm>
            <a:off x="4343099" y="4115072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채권관리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54" name="Text Box 28"/>
          <p:cNvSpPr txBox="1">
            <a:spLocks noChangeArrowheads="1"/>
          </p:cNvSpPr>
          <p:nvPr/>
        </p:nvSpPr>
        <p:spPr bwMode="auto">
          <a:xfrm>
            <a:off x="4343099" y="3640230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매출관리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cxnSp>
        <p:nvCxnSpPr>
          <p:cNvPr id="66" name="AutoShape 13"/>
          <p:cNvCxnSpPr>
            <a:cxnSpLocks noChangeShapeType="1"/>
            <a:stCxn id="135" idx="2"/>
            <a:endCxn id="51" idx="0"/>
          </p:cNvCxnSpPr>
          <p:nvPr/>
        </p:nvCxnSpPr>
        <p:spPr bwMode="auto">
          <a:xfrm rot="16200000" flipH="1">
            <a:off x="3934010" y="1834324"/>
            <a:ext cx="447492" cy="135094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</p:cxnSp>
      <p:cxnSp>
        <p:nvCxnSpPr>
          <p:cNvPr id="69" name="AutoShape 5"/>
          <p:cNvCxnSpPr>
            <a:cxnSpLocks noChangeShapeType="1"/>
            <a:stCxn id="70" idx="2"/>
            <a:endCxn id="139" idx="0"/>
          </p:cNvCxnSpPr>
          <p:nvPr/>
        </p:nvCxnSpPr>
        <p:spPr bwMode="auto">
          <a:xfrm>
            <a:off x="5891538" y="3084383"/>
            <a:ext cx="2036" cy="1526614"/>
          </a:xfrm>
          <a:prstGeom prst="straightConnector1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</p:cxnSp>
      <p:sp>
        <p:nvSpPr>
          <p:cNvPr id="70" name="AutoShape 10"/>
          <p:cNvSpPr>
            <a:spLocks noChangeArrowheads="1"/>
          </p:cNvSpPr>
          <p:nvPr/>
        </p:nvSpPr>
        <p:spPr bwMode="auto">
          <a:xfrm>
            <a:off x="5423538" y="2733545"/>
            <a:ext cx="936000" cy="350838"/>
          </a:xfrm>
          <a:prstGeom prst="roundRect">
            <a:avLst>
              <a:gd name="adj" fmla="val 16667"/>
            </a:avLst>
          </a:prstGeom>
          <a:solidFill>
            <a:srgbClr val="FFFFFF">
              <a:lumMod val="85000"/>
            </a:srgbClr>
          </a:solidFill>
          <a:ln w="952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경매관리</a:t>
            </a:r>
            <a:endParaRPr kumimoji="0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71" name="Text Box 27"/>
          <p:cNvSpPr txBox="1">
            <a:spLocks noChangeArrowheads="1"/>
          </p:cNvSpPr>
          <p:nvPr/>
        </p:nvSpPr>
        <p:spPr bwMode="auto">
          <a:xfrm>
            <a:off x="5395859" y="4115072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lvl="0" algn="ctr" defTabSz="914400" latinLnBrk="1">
              <a:defRPr/>
            </a:pPr>
            <a:r>
              <a:rPr kumimoji="1" lang="ko-KR" altLang="en-US" sz="1100" ker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경매판매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72" name="Text Box 28"/>
          <p:cNvSpPr txBox="1">
            <a:spLocks noChangeArrowheads="1"/>
          </p:cNvSpPr>
          <p:nvPr/>
        </p:nvSpPr>
        <p:spPr bwMode="auto">
          <a:xfrm>
            <a:off x="5395859" y="3640230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경매관리자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cxnSp>
        <p:nvCxnSpPr>
          <p:cNvPr id="73" name="AutoShape 13"/>
          <p:cNvCxnSpPr>
            <a:cxnSpLocks noChangeShapeType="1"/>
            <a:stCxn id="135" idx="2"/>
            <a:endCxn id="70" idx="0"/>
          </p:cNvCxnSpPr>
          <p:nvPr/>
        </p:nvCxnSpPr>
        <p:spPr bwMode="auto">
          <a:xfrm rot="16200000" flipH="1">
            <a:off x="4463164" y="1305171"/>
            <a:ext cx="447492" cy="2409256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</p:cxnSp>
      <p:cxnSp>
        <p:nvCxnSpPr>
          <p:cNvPr id="76" name="AutoShape 5"/>
          <p:cNvCxnSpPr>
            <a:cxnSpLocks noChangeShapeType="1"/>
            <a:stCxn id="77" idx="2"/>
            <a:endCxn id="78" idx="0"/>
          </p:cNvCxnSpPr>
          <p:nvPr/>
        </p:nvCxnSpPr>
        <p:spPr bwMode="auto">
          <a:xfrm flipH="1">
            <a:off x="6943672" y="3084383"/>
            <a:ext cx="6173" cy="1030689"/>
          </a:xfrm>
          <a:prstGeom prst="straightConnector1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</p:cxnSp>
      <p:sp>
        <p:nvSpPr>
          <p:cNvPr id="77" name="AutoShape 10"/>
          <p:cNvSpPr>
            <a:spLocks noChangeArrowheads="1"/>
          </p:cNvSpPr>
          <p:nvPr/>
        </p:nvSpPr>
        <p:spPr bwMode="auto">
          <a:xfrm>
            <a:off x="6481845" y="2733545"/>
            <a:ext cx="936000" cy="350838"/>
          </a:xfrm>
          <a:prstGeom prst="roundRect">
            <a:avLst>
              <a:gd name="adj" fmla="val 16667"/>
            </a:avLst>
          </a:prstGeom>
          <a:solidFill>
            <a:srgbClr val="FFFFFF">
              <a:lumMod val="85000"/>
            </a:srgbClr>
          </a:solidFill>
          <a:ln w="952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고객관리</a:t>
            </a:r>
            <a:endParaRPr kumimoji="0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78" name="Text Box 27"/>
          <p:cNvSpPr txBox="1">
            <a:spLocks noChangeArrowheads="1"/>
          </p:cNvSpPr>
          <p:nvPr/>
        </p:nvSpPr>
        <p:spPr bwMode="auto">
          <a:xfrm>
            <a:off x="6457672" y="4115072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고객클레임관리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79" name="Text Box 28"/>
          <p:cNvSpPr txBox="1">
            <a:spLocks noChangeArrowheads="1"/>
          </p:cNvSpPr>
          <p:nvPr/>
        </p:nvSpPr>
        <p:spPr bwMode="auto">
          <a:xfrm>
            <a:off x="6457672" y="3640230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고객면담괸리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80" name="Text Box 14"/>
          <p:cNvSpPr txBox="1">
            <a:spLocks noChangeArrowheads="1"/>
          </p:cNvSpPr>
          <p:nvPr/>
        </p:nvSpPr>
        <p:spPr bwMode="auto">
          <a:xfrm>
            <a:off x="2239638" y="5560219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lvl="0" algn="ctr" defTabSz="914400" latinLnBrk="1"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임가공</a:t>
            </a:r>
            <a:endParaRPr kumimoji="1" lang="ko-KR" altLang="en-US" sz="1100" kern="0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cxnSp>
        <p:nvCxnSpPr>
          <p:cNvPr id="83" name="AutoShape 13"/>
          <p:cNvCxnSpPr>
            <a:cxnSpLocks noChangeShapeType="1"/>
            <a:stCxn id="135" idx="2"/>
            <a:endCxn id="77" idx="0"/>
          </p:cNvCxnSpPr>
          <p:nvPr/>
        </p:nvCxnSpPr>
        <p:spPr bwMode="auto">
          <a:xfrm rot="16200000" flipH="1">
            <a:off x="4992317" y="776017"/>
            <a:ext cx="447492" cy="3467563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</p:cxnSp>
      <p:sp>
        <p:nvSpPr>
          <p:cNvPr id="86" name="Text Box 31"/>
          <p:cNvSpPr txBox="1">
            <a:spLocks noChangeArrowheads="1"/>
          </p:cNvSpPr>
          <p:nvPr/>
        </p:nvSpPr>
        <p:spPr bwMode="auto">
          <a:xfrm>
            <a:off x="3288101" y="4575452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400" latinLnBrk="1"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내수출하</a:t>
            </a:r>
            <a:endParaRPr kumimoji="1" lang="ko-KR" altLang="en-US" sz="1100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87" name="Text Box 31"/>
          <p:cNvSpPr txBox="1">
            <a:spLocks noChangeArrowheads="1"/>
          </p:cNvSpPr>
          <p:nvPr/>
        </p:nvSpPr>
        <p:spPr bwMode="auto">
          <a:xfrm>
            <a:off x="3292655" y="5055914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400" latinLnBrk="1"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수출출하</a:t>
            </a:r>
            <a:endParaRPr kumimoji="1" lang="ko-KR" altLang="en-US" sz="1100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cxnSp>
        <p:nvCxnSpPr>
          <p:cNvPr id="91" name="AutoShape 5"/>
          <p:cNvCxnSpPr>
            <a:cxnSpLocks noChangeShapeType="1"/>
            <a:stCxn id="92" idx="2"/>
            <a:endCxn id="93" idx="0"/>
          </p:cNvCxnSpPr>
          <p:nvPr/>
        </p:nvCxnSpPr>
        <p:spPr bwMode="auto">
          <a:xfrm flipH="1">
            <a:off x="9067300" y="3084383"/>
            <a:ext cx="2666" cy="1021636"/>
          </a:xfrm>
          <a:prstGeom prst="straightConnector1">
            <a:avLst/>
          </a:prstGeom>
          <a:noFill/>
          <a:ln w="9525">
            <a:solidFill>
              <a:srgbClr val="C0C0C0"/>
            </a:solidFill>
            <a:round/>
            <a:headEnd/>
            <a:tailEnd/>
          </a:ln>
          <a:effectLst/>
        </p:spPr>
      </p:cxnSp>
      <p:sp>
        <p:nvSpPr>
          <p:cNvPr id="92" name="AutoShape 10"/>
          <p:cNvSpPr>
            <a:spLocks noChangeArrowheads="1"/>
          </p:cNvSpPr>
          <p:nvPr/>
        </p:nvSpPr>
        <p:spPr bwMode="auto">
          <a:xfrm>
            <a:off x="8601966" y="2733545"/>
            <a:ext cx="936000" cy="350838"/>
          </a:xfrm>
          <a:prstGeom prst="roundRect">
            <a:avLst>
              <a:gd name="adj" fmla="val 16667"/>
            </a:avLst>
          </a:prstGeom>
          <a:solidFill>
            <a:srgbClr val="FFFFFF">
              <a:lumMod val="85000"/>
            </a:srgbClr>
          </a:solidFill>
          <a:ln w="9525" algn="ctr">
            <a:solidFill>
              <a:srgbClr val="C0C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실적관리</a:t>
            </a:r>
            <a:endParaRPr kumimoji="0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93" name="Text Box 27"/>
          <p:cNvSpPr txBox="1">
            <a:spLocks noChangeArrowheads="1"/>
          </p:cNvSpPr>
          <p:nvPr/>
        </p:nvSpPr>
        <p:spPr bwMode="auto">
          <a:xfrm>
            <a:off x="8581300" y="4106019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400" latinLnBrk="1"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원가손익분석</a:t>
            </a:r>
            <a:endParaRPr kumimoji="1" lang="ko-KR" altLang="en-US" sz="1100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94" name="Text Box 28"/>
          <p:cNvSpPr txBox="1">
            <a:spLocks noChangeArrowheads="1"/>
          </p:cNvSpPr>
          <p:nvPr/>
        </p:nvSpPr>
        <p:spPr bwMode="auto">
          <a:xfrm>
            <a:off x="8581300" y="3631177"/>
            <a:ext cx="972000" cy="3952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rPr>
              <a:t>판매계획관리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cxnSp>
        <p:nvCxnSpPr>
          <p:cNvPr id="95" name="AutoShape 13"/>
          <p:cNvCxnSpPr>
            <a:cxnSpLocks noChangeShapeType="1"/>
            <a:stCxn id="135" idx="2"/>
            <a:endCxn id="92" idx="0"/>
          </p:cNvCxnSpPr>
          <p:nvPr/>
        </p:nvCxnSpPr>
        <p:spPr bwMode="auto">
          <a:xfrm rot="16200000" flipH="1">
            <a:off x="6052378" y="-284043"/>
            <a:ext cx="447492" cy="558768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C0C0C0"/>
            </a:solidFill>
            <a:miter lim="800000"/>
            <a:headEnd/>
            <a:tailEnd/>
          </a:ln>
          <a:effectLst/>
        </p:spPr>
      </p:cxnSp>
      <p:sp>
        <p:nvSpPr>
          <p:cNvPr id="136" name="Text Box 27"/>
          <p:cNvSpPr txBox="1">
            <a:spLocks noChangeArrowheads="1"/>
          </p:cNvSpPr>
          <p:nvPr/>
        </p:nvSpPr>
        <p:spPr bwMode="auto">
          <a:xfrm>
            <a:off x="7520226" y="4575453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400" latinLnBrk="1"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출하지시관리</a:t>
            </a:r>
            <a:endParaRPr kumimoji="1" lang="ko-KR" altLang="en-US" sz="1100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37" name="Text Box 27"/>
          <p:cNvSpPr txBox="1">
            <a:spLocks noChangeArrowheads="1"/>
          </p:cNvSpPr>
          <p:nvPr/>
        </p:nvSpPr>
        <p:spPr bwMode="auto">
          <a:xfrm>
            <a:off x="7524369" y="5041846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algn="ctr" defTabSz="914400" latinLnBrk="1"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수출채권관리</a:t>
            </a:r>
            <a:endParaRPr kumimoji="1" lang="ko-KR" altLang="en-US" sz="1100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39" name="Text Box 27"/>
          <p:cNvSpPr txBox="1">
            <a:spLocks noChangeArrowheads="1"/>
          </p:cNvSpPr>
          <p:nvPr/>
        </p:nvSpPr>
        <p:spPr bwMode="auto">
          <a:xfrm>
            <a:off x="5407574" y="4610997"/>
            <a:ext cx="972000" cy="395287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  <a:miter lim="800000"/>
            <a:headEnd/>
            <a:tailEnd/>
          </a:ln>
          <a:effectLst/>
        </p:spPr>
        <p:txBody>
          <a:bodyPr lIns="0" rIns="0" anchor="ctr"/>
          <a:lstStyle/>
          <a:p>
            <a:pPr lvl="0" algn="ctr" defTabSz="914400" latinLnBrk="1">
              <a:defRPr/>
            </a:pPr>
            <a:r>
              <a:rPr kumimoji="1" lang="ko-KR" altLang="en-US" sz="1100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부산물경매</a:t>
            </a:r>
            <a:endParaRPr kumimoji="1" lang="ko-KR" altLang="en-US" sz="11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715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_D-CUBE TF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96" name="Rectangle 3"/>
          <p:cNvSpPr>
            <a:spLocks noChangeArrowheads="1"/>
          </p:cNvSpPr>
          <p:nvPr/>
        </p:nvSpPr>
        <p:spPr bwMode="auto">
          <a:xfrm>
            <a:off x="244726" y="1311275"/>
            <a:ext cx="8653096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10800"/>
          <a:lstStyle/>
          <a:p>
            <a:pPr defTabSz="914400" latinLnBrk="1">
              <a:lnSpc>
                <a:spcPct val="120000"/>
              </a:lnSpc>
              <a:spcBef>
                <a:spcPct val="30000"/>
              </a:spcBef>
            </a:pPr>
            <a:endParaRPr kumimoji="1" lang="en-US" altLang="ko-KR" sz="1100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00" name="Rectangle 44"/>
          <p:cNvSpPr txBox="1">
            <a:spLocks noChangeArrowheads="1"/>
          </p:cNvSpPr>
          <p:nvPr/>
        </p:nvSpPr>
        <p:spPr bwMode="auto">
          <a:xfrm>
            <a:off x="6766276" y="44803"/>
            <a:ext cx="2826124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342900" indent="-342900" algn="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2. </a:t>
            </a:r>
            <a:r>
              <a:rPr lang="ko-KR" altLang="en-US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영역 별 이슈 및 원인 분석서</a:t>
            </a:r>
          </a:p>
        </p:txBody>
      </p:sp>
      <p:sp>
        <p:nvSpPr>
          <p:cNvPr id="138" name="제목 2"/>
          <p:cNvSpPr txBox="1">
            <a:spLocks/>
          </p:cNvSpPr>
          <p:nvPr/>
        </p:nvSpPr>
        <p:spPr>
          <a:xfrm>
            <a:off x="272724" y="576000"/>
            <a:ext cx="9355229" cy="708943"/>
          </a:xfrm>
          <a:prstGeom prst="rect">
            <a:avLst/>
          </a:prstGeom>
        </p:spPr>
        <p:txBody>
          <a:bodyPr vert="horz" lIns="91440" tIns="45720" rIns="91440" bIns="0" rtlCol="0" anchor="t" anchorCtr="0">
            <a:noAutofit/>
          </a:bodyPr>
          <a:lstStyle>
            <a:lvl1pPr algn="l" defTabSz="914400" rtl="0" eaLnBrk="1" latinLnBrk="1" hangingPunct="1">
              <a:lnSpc>
                <a:spcPct val="120000"/>
              </a:lnSpc>
              <a:spcBef>
                <a:spcPct val="0"/>
              </a:spcBef>
              <a:buNone/>
              <a:defRPr sz="17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kern="0" spc="0">
                <a:solidFill>
                  <a:srgbClr val="000000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/>
            </a:r>
            <a:br>
              <a:rPr lang="ko-KR" altLang="en-US" b="1" kern="0" spc="0">
                <a:solidFill>
                  <a:srgbClr val="000000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</a:br>
            <a:r>
              <a:rPr lang="ko-KR" altLang="en-US" smtClean="0"/>
              <a:t> </a:t>
            </a:r>
            <a:endParaRPr lang="ko-KR" altLang="en-US"/>
          </a:p>
        </p:txBody>
      </p:sp>
      <p:sp>
        <p:nvSpPr>
          <p:cNvPr id="145" name="제목 2"/>
          <p:cNvSpPr>
            <a:spLocks noGrp="1"/>
          </p:cNvSpPr>
          <p:nvPr>
            <p:ph type="title"/>
          </p:nvPr>
        </p:nvSpPr>
        <p:spPr>
          <a:xfrm>
            <a:off x="272724" y="576000"/>
            <a:ext cx="9355229" cy="708943"/>
          </a:xfrm>
        </p:spPr>
        <p:txBody>
          <a:bodyPr/>
          <a:lstStyle/>
          <a:p>
            <a:r>
              <a:rPr lang="ko-KR" altLang="en-US"/>
              <a:t>현행 영업관리 프로세스는 기준정보</a:t>
            </a:r>
            <a:r>
              <a:rPr lang="en-US" altLang="ko-KR"/>
              <a:t>,</a:t>
            </a:r>
            <a:r>
              <a:rPr lang="ko-KR" altLang="en-US"/>
              <a:t>주문관리</a:t>
            </a:r>
            <a:r>
              <a:rPr lang="en-US" altLang="ko-KR"/>
              <a:t>,</a:t>
            </a:r>
            <a:r>
              <a:rPr lang="ko-KR" altLang="en-US"/>
              <a:t>재고</a:t>
            </a:r>
            <a:r>
              <a:rPr lang="en-US" altLang="ko-KR"/>
              <a:t>/</a:t>
            </a:r>
            <a:r>
              <a:rPr lang="ko-KR" altLang="en-US"/>
              <a:t>출하관리 등 </a:t>
            </a:r>
            <a:r>
              <a:rPr lang="en-US" altLang="ko-KR"/>
              <a:t>8</a:t>
            </a:r>
            <a:r>
              <a:rPr lang="ko-KR" altLang="en-US"/>
              <a:t>개의 </a:t>
            </a:r>
            <a:r>
              <a:rPr lang="en-US" altLang="ko-KR"/>
              <a:t>Major </a:t>
            </a:r>
            <a:r>
              <a:rPr lang="ko-KR" altLang="en-US"/>
              <a:t>프로세스와 </a:t>
            </a:r>
            <a:r>
              <a:rPr lang="en-US" altLang="ko-KR"/>
              <a:t>25</a:t>
            </a:r>
            <a:r>
              <a:rPr lang="ko-KR" altLang="en-US"/>
              <a:t>개의 </a:t>
            </a:r>
            <a:r>
              <a:rPr lang="en-US" altLang="ko-KR"/>
              <a:t>Sub </a:t>
            </a:r>
            <a:r>
              <a:rPr lang="ko-KR" altLang="en-US"/>
              <a:t>프로세스로 구성됨</a:t>
            </a:r>
          </a:p>
        </p:txBody>
      </p:sp>
      <p:sp>
        <p:nvSpPr>
          <p:cNvPr id="146" name="텍스트 개체 틀 3"/>
          <p:cNvSpPr>
            <a:spLocks noGrp="1"/>
          </p:cNvSpPr>
          <p:nvPr>
            <p:ph type="body" sz="quarter" idx="19"/>
          </p:nvPr>
        </p:nvSpPr>
        <p:spPr>
          <a:xfrm>
            <a:off x="272833" y="134345"/>
            <a:ext cx="6172693" cy="443198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ko-KR"/>
              <a:t>As-Is </a:t>
            </a:r>
            <a:r>
              <a:rPr lang="ko-KR" altLang="en-US"/>
              <a:t>프로세스 체계 </a:t>
            </a:r>
            <a:r>
              <a:rPr lang="en-US" altLang="ko-KR"/>
              <a:t>– 02_</a:t>
            </a:r>
            <a:r>
              <a:rPr lang="ko-KR" altLang="en-US" smtClean="0"/>
              <a:t>영업관리</a:t>
            </a:r>
            <a:r>
              <a:rPr lang="en-US" altLang="ko-KR" smtClean="0"/>
              <a:t>(1/2</a:t>
            </a:r>
            <a:r>
              <a:rPr lang="en-US" altLang="ko-KR"/>
              <a:t>)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auto">
          <a:xfrm>
            <a:off x="359024" y="1484784"/>
            <a:ext cx="8653096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10800"/>
          <a:lstStyle/>
          <a:p>
            <a:pPr>
              <a:lnSpc>
                <a:spcPct val="120000"/>
              </a:lnSpc>
              <a:spcBef>
                <a:spcPct val="30000"/>
              </a:spcBef>
            </a:pPr>
            <a:endParaRPr kumimoji="1" lang="en-US" altLang="ko-KR" sz="1100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1297710" y="3078815"/>
            <a:ext cx="1460989" cy="555625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36000" rIns="0" bIns="36000" anchor="ctr" anchorCtr="0"/>
          <a:lstStyle/>
          <a:p>
            <a:pPr marL="87313">
              <a:defRPr/>
            </a:pPr>
            <a:r>
              <a:rPr lang="en-US" altLang="ko-KR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02.01 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기준정보</a:t>
            </a:r>
            <a:endParaRPr lang="ko-KR" altLang="en-US" sz="1200" b="1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49" name="Rectangle 5"/>
          <p:cNvSpPr>
            <a:spLocks noChangeArrowheads="1"/>
          </p:cNvSpPr>
          <p:nvPr/>
        </p:nvSpPr>
        <p:spPr bwMode="auto">
          <a:xfrm>
            <a:off x="2813540" y="2128813"/>
            <a:ext cx="6211770" cy="6096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kumimoji="1" lang="ko-KR" altLang="en-US" sz="1200">
                <a:solidFill>
                  <a:srgbClr val="000000"/>
                </a:solidFill>
                <a:latin typeface="맑은 고딕" pitchFamily="50" charset="-127"/>
              </a:rPr>
              <a:t> </a:t>
            </a:r>
            <a:r>
              <a:rPr lang="ko-KR" altLang="en-US" sz="1200"/>
              <a:t>고객 요구와 시장기회를 기반으로 신규</a:t>
            </a:r>
            <a:r>
              <a:rPr lang="en-US" altLang="ko-KR" sz="1200"/>
              <a:t>·</a:t>
            </a:r>
            <a:r>
              <a:rPr lang="ko-KR" altLang="en-US" sz="1200"/>
              <a:t>기존 제품의 판매를 확대하고</a:t>
            </a:r>
            <a:r>
              <a:rPr lang="en-US" altLang="ko-KR" sz="1200"/>
              <a:t>, </a:t>
            </a:r>
            <a:r>
              <a:rPr lang="ko-KR" altLang="en-US" sz="1200"/>
              <a:t>수주부터 납기</a:t>
            </a:r>
            <a:r>
              <a:rPr lang="en-US" altLang="ko-KR" sz="1200"/>
              <a:t>·</a:t>
            </a:r>
            <a:r>
              <a:rPr lang="ko-KR" altLang="en-US" sz="1200"/>
              <a:t>출하까지 주문 이행과정을 체계적으로 관리하여 매출 및 수익성 향상에 기여하는 일련의 프로세스임</a:t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0" name="Rectangle 6"/>
          <p:cNvSpPr>
            <a:spLocks noChangeArrowheads="1"/>
          </p:cNvSpPr>
          <p:nvPr/>
        </p:nvSpPr>
        <p:spPr bwMode="auto">
          <a:xfrm>
            <a:off x="2813626" y="3049469"/>
            <a:ext cx="5643197" cy="4826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 latinLnBrk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kumimoji="1"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영업에 필요한 고객</a:t>
            </a:r>
            <a:r>
              <a:rPr kumimoji="1"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/</a:t>
            </a:r>
            <a:r>
              <a:rPr kumimoji="1"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가격</a:t>
            </a:r>
            <a:r>
              <a:rPr kumimoji="1"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/</a:t>
            </a:r>
            <a:r>
              <a:rPr kumimoji="1"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영업팀 등 기준정보를 관리하는 프로세스</a:t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4353954" y="1562576"/>
            <a:ext cx="2612780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b="1">
                <a:solidFill>
                  <a:srgbClr val="000000"/>
                </a:solidFill>
                <a:latin typeface="맑은 고딕" pitchFamily="50" charset="-127"/>
              </a:rPr>
              <a:t>프로세스 정의</a:t>
            </a:r>
          </a:p>
        </p:txBody>
      </p:sp>
      <p:sp>
        <p:nvSpPr>
          <p:cNvPr id="52" name="AutoShape 8"/>
          <p:cNvSpPr>
            <a:spLocks noChangeArrowheads="1"/>
          </p:cNvSpPr>
          <p:nvPr/>
        </p:nvSpPr>
        <p:spPr bwMode="gray">
          <a:xfrm>
            <a:off x="1002323" y="2107655"/>
            <a:ext cx="1689909" cy="500062"/>
          </a:xfrm>
          <a:prstGeom prst="homePlate">
            <a:avLst>
              <a:gd name="adj" fmla="val 34632"/>
            </a:avLst>
          </a:prstGeom>
          <a:solidFill>
            <a:srgbClr val="00206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defRPr/>
            </a:pPr>
            <a:r>
              <a:rPr lang="en-US" altLang="ko-KR" sz="1200" b="1" smtClean="0">
                <a:solidFill>
                  <a:srgbClr val="FFFFFF"/>
                </a:solidFill>
                <a:latin typeface="맑은 고딕" pitchFamily="50" charset="-127"/>
                <a:cs typeface="Arial" charset="0"/>
              </a:rPr>
              <a:t>02. </a:t>
            </a:r>
            <a:r>
              <a:rPr lang="ko-KR" altLang="en-US" sz="1200" b="1" smtClean="0">
                <a:solidFill>
                  <a:srgbClr val="FFFFFF"/>
                </a:solidFill>
                <a:latin typeface="맑은 고딕" pitchFamily="50" charset="-127"/>
                <a:cs typeface="Arial" charset="0"/>
              </a:rPr>
              <a:t>영업관리</a:t>
            </a:r>
            <a:endParaRPr lang="ko-KR" altLang="en-US" sz="1200" b="1" dirty="0">
              <a:solidFill>
                <a:srgbClr val="FFFFFF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53" name="Text Box 9"/>
          <p:cNvSpPr txBox="1">
            <a:spLocks noChangeArrowheads="1"/>
          </p:cNvSpPr>
          <p:nvPr/>
        </p:nvSpPr>
        <p:spPr bwMode="auto">
          <a:xfrm>
            <a:off x="1096976" y="1597319"/>
            <a:ext cx="1279281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b="1" dirty="0">
                <a:solidFill>
                  <a:srgbClr val="000000"/>
                </a:solidFill>
                <a:latin typeface="맑은 고딕" pitchFamily="50" charset="-127"/>
              </a:rPr>
              <a:t>프로세스</a:t>
            </a:r>
          </a:p>
        </p:txBody>
      </p:sp>
      <p:sp>
        <p:nvSpPr>
          <p:cNvPr id="54" name="Line 10"/>
          <p:cNvSpPr>
            <a:spLocks noChangeShapeType="1"/>
          </p:cNvSpPr>
          <p:nvPr/>
        </p:nvSpPr>
        <p:spPr bwMode="auto">
          <a:xfrm>
            <a:off x="830875" y="1873722"/>
            <a:ext cx="1862503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20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5" name="Line 11"/>
          <p:cNvSpPr>
            <a:spLocks noChangeShapeType="1"/>
          </p:cNvSpPr>
          <p:nvPr/>
        </p:nvSpPr>
        <p:spPr bwMode="auto">
          <a:xfrm>
            <a:off x="2892667" y="1874317"/>
            <a:ext cx="556406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/>
          </a:ln>
          <a:effectLst/>
        </p:spPr>
        <p:txBody>
          <a:bodyPr wrap="none" lIns="18000" tIns="10800" rIns="18000" bIns="10800" anchor="ctr"/>
          <a:lstStyle/>
          <a:p>
            <a:endParaRPr lang="ko-KR" altLang="en-US" sz="120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6" name="Rectangle 12"/>
          <p:cNvSpPr>
            <a:spLocks noChangeArrowheads="1"/>
          </p:cNvSpPr>
          <p:nvPr/>
        </p:nvSpPr>
        <p:spPr bwMode="auto">
          <a:xfrm>
            <a:off x="1297710" y="3876647"/>
            <a:ext cx="1460989" cy="555625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36000" rIns="0" bIns="36000" anchor="ctr" anchorCtr="0"/>
          <a:lstStyle/>
          <a:p>
            <a:pPr marL="87313">
              <a:defRPr/>
            </a:pPr>
            <a:r>
              <a:rPr lang="en-US" altLang="ko-KR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02.02 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주문관리</a:t>
            </a:r>
            <a:endParaRPr lang="ko-KR" altLang="en-US" sz="1200" b="1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57" name="Rectangle 13"/>
          <p:cNvSpPr>
            <a:spLocks noChangeArrowheads="1"/>
          </p:cNvSpPr>
          <p:nvPr/>
        </p:nvSpPr>
        <p:spPr bwMode="auto">
          <a:xfrm>
            <a:off x="2813536" y="3815169"/>
            <a:ext cx="6198584" cy="69532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200" smtClean="0"/>
              <a:t> 영업활동을 </a:t>
            </a:r>
            <a:r>
              <a:rPr lang="ko-KR" altLang="en-US" sz="1200"/>
              <a:t>통해 접수한 고객의 구매주문서</a:t>
            </a:r>
            <a:r>
              <a:rPr lang="en-US" altLang="ko-KR" sz="1200"/>
              <a:t>(PO)</a:t>
            </a:r>
            <a:r>
              <a:rPr lang="ko-KR" altLang="en-US" sz="1200"/>
              <a:t>를 당사 판매주문으로 등록하고</a:t>
            </a:r>
            <a:r>
              <a:rPr lang="en-US" altLang="ko-KR" sz="1200"/>
              <a:t>, </a:t>
            </a:r>
            <a:r>
              <a:rPr lang="ko-KR" altLang="en-US" sz="1200"/>
              <a:t>주문 변경부터 생산</a:t>
            </a:r>
            <a:r>
              <a:rPr lang="en-US" altLang="ko-KR" sz="1200"/>
              <a:t>·</a:t>
            </a:r>
            <a:r>
              <a:rPr lang="ko-KR" altLang="en-US" sz="1200"/>
              <a:t>출하</a:t>
            </a:r>
            <a:r>
              <a:rPr lang="en-US" altLang="ko-KR" sz="1200"/>
              <a:t>·</a:t>
            </a:r>
            <a:r>
              <a:rPr lang="ko-KR" altLang="en-US" sz="1200"/>
              <a:t>납기 이행까지 주문 진행 전반을 관리하는 </a:t>
            </a:r>
            <a:r>
              <a:rPr lang="ko-KR" altLang="en-US" sz="1200" smtClean="0"/>
              <a:t>프로세스</a:t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1297710" y="4690807"/>
            <a:ext cx="1460989" cy="555625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36000" rIns="0" bIns="36000" anchor="ctr" anchorCtr="0"/>
          <a:lstStyle/>
          <a:p>
            <a:pPr marL="87313">
              <a:defRPr/>
            </a:pPr>
            <a:r>
              <a:rPr lang="en-US" altLang="ko-KR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02.03 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재고출하관리</a:t>
            </a:r>
            <a:endParaRPr lang="ko-KR" altLang="en-US" sz="1200" b="1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59" name="Rectangle 15"/>
          <p:cNvSpPr>
            <a:spLocks noChangeArrowheads="1"/>
          </p:cNvSpPr>
          <p:nvPr/>
        </p:nvSpPr>
        <p:spPr bwMode="auto">
          <a:xfrm>
            <a:off x="2813626" y="4662970"/>
            <a:ext cx="6013503" cy="4826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kumimoji="1"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고</a:t>
            </a:r>
            <a:r>
              <a:rPr lang="ko-KR" altLang="en-US" sz="1200" smtClean="0"/>
              <a:t>객 </a:t>
            </a:r>
            <a:r>
              <a:rPr lang="ko-KR" altLang="en-US" sz="1200"/>
              <a:t>주문과 납기계획에 따라 출하 대상 재고를 확인</a:t>
            </a:r>
            <a:r>
              <a:rPr lang="en-US" altLang="ko-KR" sz="1200"/>
              <a:t>·</a:t>
            </a:r>
            <a:r>
              <a:rPr lang="ko-KR" altLang="en-US" sz="1200"/>
              <a:t>배정하고</a:t>
            </a:r>
            <a:r>
              <a:rPr lang="en-US" altLang="ko-KR" sz="1200"/>
              <a:t>, </a:t>
            </a:r>
            <a:r>
              <a:rPr lang="ko-KR" altLang="en-US" sz="1200"/>
              <a:t>제품의 피킹</a:t>
            </a:r>
            <a:r>
              <a:rPr lang="en-US" altLang="ko-KR" sz="1200"/>
              <a:t>·</a:t>
            </a:r>
            <a:r>
              <a:rPr lang="ko-KR" altLang="en-US" sz="1200"/>
              <a:t>상차</a:t>
            </a:r>
            <a:r>
              <a:rPr lang="en-US" altLang="ko-KR" sz="1200"/>
              <a:t>·</a:t>
            </a:r>
            <a:r>
              <a:rPr lang="ko-KR" altLang="en-US" sz="1200"/>
              <a:t>출하 및 재고 차감까지 전 과정을 관리하는 프로세스</a:t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60" name="Rectangle 16"/>
          <p:cNvSpPr>
            <a:spLocks noChangeArrowheads="1"/>
          </p:cNvSpPr>
          <p:nvPr/>
        </p:nvSpPr>
        <p:spPr bwMode="auto">
          <a:xfrm>
            <a:off x="1297710" y="5504967"/>
            <a:ext cx="1460989" cy="555625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36000" rIns="0" bIns="36000" anchor="ctr" anchorCtr="0"/>
          <a:lstStyle/>
          <a:p>
            <a:pPr marL="87313">
              <a:defRPr/>
            </a:pPr>
            <a:r>
              <a:rPr lang="en-US" altLang="ko-KR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02.04 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매출채권관리</a:t>
            </a:r>
            <a:endParaRPr lang="ko-KR" altLang="en-US" sz="1200" b="1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61" name="Rectangle 17"/>
          <p:cNvSpPr>
            <a:spLocks noChangeArrowheads="1"/>
          </p:cNvSpPr>
          <p:nvPr/>
        </p:nvSpPr>
        <p:spPr bwMode="auto">
          <a:xfrm>
            <a:off x="2813626" y="5428669"/>
            <a:ext cx="6084196" cy="72008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200" smtClean="0"/>
              <a:t> 제품</a:t>
            </a:r>
            <a:r>
              <a:rPr lang="en-US" altLang="ko-KR" sz="1200"/>
              <a:t>·</a:t>
            </a:r>
            <a:r>
              <a:rPr lang="ko-KR" altLang="en-US" sz="1200"/>
              <a:t>서비스 판매로 발생한 고객별 채권을 등록하고</a:t>
            </a:r>
            <a:r>
              <a:rPr lang="en-US" altLang="ko-KR" sz="1200"/>
              <a:t>, </a:t>
            </a:r>
            <a:r>
              <a:rPr lang="ko-KR" altLang="en-US" sz="1200"/>
              <a:t>청구</a:t>
            </a:r>
            <a:r>
              <a:rPr lang="en-US" altLang="ko-KR" sz="1200"/>
              <a:t>·</a:t>
            </a:r>
            <a:r>
              <a:rPr lang="ko-KR" altLang="en-US" sz="1200"/>
              <a:t>수금</a:t>
            </a:r>
            <a:r>
              <a:rPr lang="en-US" altLang="ko-KR" sz="1200"/>
              <a:t>·</a:t>
            </a:r>
            <a:r>
              <a:rPr lang="ko-KR" altLang="en-US" sz="1200"/>
              <a:t>잔액</a:t>
            </a:r>
            <a:r>
              <a:rPr lang="en-US" altLang="ko-KR" sz="1200"/>
              <a:t>·</a:t>
            </a:r>
            <a:r>
              <a:rPr lang="ko-KR" altLang="en-US" sz="1200"/>
              <a:t>연체 현황을 </a:t>
            </a:r>
            <a:r>
              <a:rPr lang="ko-KR" altLang="en-US" sz="1200" smtClean="0"/>
              <a:t> 관리하여 </a:t>
            </a:r>
            <a:r>
              <a:rPr lang="ko-KR" altLang="en-US" sz="1200"/>
              <a:t>채권 회수와 대손 위험을 통제하는 프로세스임</a:t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62" name="Line 18"/>
          <p:cNvSpPr>
            <a:spLocks noChangeShapeType="1"/>
          </p:cNvSpPr>
          <p:nvPr/>
        </p:nvSpPr>
        <p:spPr bwMode="auto">
          <a:xfrm>
            <a:off x="2787160" y="2811255"/>
            <a:ext cx="580145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ko-KR" altLang="en-US" sz="120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63" name="Oval 19"/>
          <p:cNvSpPr>
            <a:spLocks noChangeArrowheads="1"/>
          </p:cNvSpPr>
          <p:nvPr/>
        </p:nvSpPr>
        <p:spPr bwMode="gray">
          <a:xfrm>
            <a:off x="345834" y="2201496"/>
            <a:ext cx="593481" cy="423863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맑은 고딕"/>
              </a:rPr>
              <a:t>Mega</a:t>
            </a:r>
          </a:p>
        </p:txBody>
      </p:sp>
      <p:sp>
        <p:nvSpPr>
          <p:cNvPr id="64" name="Oval 20"/>
          <p:cNvSpPr>
            <a:spLocks noChangeArrowheads="1"/>
          </p:cNvSpPr>
          <p:nvPr/>
        </p:nvSpPr>
        <p:spPr bwMode="gray">
          <a:xfrm>
            <a:off x="345834" y="3191347"/>
            <a:ext cx="593481" cy="42386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맑은 고딕"/>
              </a:rPr>
              <a:t>Major</a:t>
            </a:r>
          </a:p>
        </p:txBody>
      </p:sp>
      <p:cxnSp>
        <p:nvCxnSpPr>
          <p:cNvPr id="65" name="Shape 102"/>
          <p:cNvCxnSpPr>
            <a:endCxn id="48" idx="1"/>
          </p:cNvCxnSpPr>
          <p:nvPr/>
        </p:nvCxnSpPr>
        <p:spPr bwMode="auto">
          <a:xfrm rot="16200000" flipH="1">
            <a:off x="787743" y="2846482"/>
            <a:ext cx="819200" cy="200734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66" name="Shape 103"/>
          <p:cNvCxnSpPr>
            <a:endCxn id="56" idx="1"/>
          </p:cNvCxnSpPr>
          <p:nvPr/>
        </p:nvCxnSpPr>
        <p:spPr bwMode="auto">
          <a:xfrm rot="16200000" flipH="1">
            <a:off x="752904" y="3609654"/>
            <a:ext cx="888968" cy="200643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67" name="Shape 104"/>
          <p:cNvCxnSpPr>
            <a:endCxn id="58" idx="1"/>
          </p:cNvCxnSpPr>
          <p:nvPr/>
        </p:nvCxnSpPr>
        <p:spPr bwMode="auto">
          <a:xfrm rot="16200000" flipH="1">
            <a:off x="754115" y="4425025"/>
            <a:ext cx="886548" cy="200641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68" name="Shape 105"/>
          <p:cNvCxnSpPr>
            <a:endCxn id="60" idx="1"/>
          </p:cNvCxnSpPr>
          <p:nvPr/>
        </p:nvCxnSpPr>
        <p:spPr bwMode="auto">
          <a:xfrm rot="16200000" flipH="1">
            <a:off x="796191" y="5281082"/>
            <a:ext cx="802308" cy="200730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2739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_D-CUBE TF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96" name="Rectangle 3"/>
          <p:cNvSpPr>
            <a:spLocks noChangeArrowheads="1"/>
          </p:cNvSpPr>
          <p:nvPr/>
        </p:nvSpPr>
        <p:spPr bwMode="auto">
          <a:xfrm>
            <a:off x="244726" y="1311275"/>
            <a:ext cx="8653096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10800"/>
          <a:lstStyle/>
          <a:p>
            <a:pPr defTabSz="914400" latinLnBrk="1">
              <a:lnSpc>
                <a:spcPct val="120000"/>
              </a:lnSpc>
              <a:spcBef>
                <a:spcPct val="30000"/>
              </a:spcBef>
            </a:pPr>
            <a:endParaRPr kumimoji="1" lang="en-US" altLang="ko-KR" sz="1100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100" name="Rectangle 44"/>
          <p:cNvSpPr txBox="1">
            <a:spLocks noChangeArrowheads="1"/>
          </p:cNvSpPr>
          <p:nvPr/>
        </p:nvSpPr>
        <p:spPr bwMode="auto">
          <a:xfrm>
            <a:off x="6766276" y="44803"/>
            <a:ext cx="2826124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342900" indent="-342900" algn="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2. </a:t>
            </a:r>
            <a:r>
              <a:rPr lang="ko-KR" altLang="en-US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영역 별 이슈 및 원인 분석서</a:t>
            </a:r>
          </a:p>
        </p:txBody>
      </p:sp>
      <p:sp>
        <p:nvSpPr>
          <p:cNvPr id="138" name="제목 2"/>
          <p:cNvSpPr txBox="1">
            <a:spLocks/>
          </p:cNvSpPr>
          <p:nvPr/>
        </p:nvSpPr>
        <p:spPr>
          <a:xfrm>
            <a:off x="272724" y="576000"/>
            <a:ext cx="9355229" cy="708943"/>
          </a:xfrm>
          <a:prstGeom prst="rect">
            <a:avLst/>
          </a:prstGeom>
        </p:spPr>
        <p:txBody>
          <a:bodyPr vert="horz" lIns="91440" tIns="45720" rIns="91440" bIns="0" rtlCol="0" anchor="t" anchorCtr="0">
            <a:noAutofit/>
          </a:bodyPr>
          <a:lstStyle>
            <a:lvl1pPr algn="l" defTabSz="914400" rtl="0" eaLnBrk="1" latinLnBrk="1" hangingPunct="1">
              <a:lnSpc>
                <a:spcPct val="120000"/>
              </a:lnSpc>
              <a:spcBef>
                <a:spcPct val="0"/>
              </a:spcBef>
              <a:buNone/>
              <a:defRPr sz="17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kern="0" spc="0">
                <a:solidFill>
                  <a:srgbClr val="000000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/>
            </a:r>
            <a:br>
              <a:rPr lang="ko-KR" altLang="en-US" b="1" kern="0" spc="0">
                <a:solidFill>
                  <a:srgbClr val="000000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</a:br>
            <a:r>
              <a:rPr lang="ko-KR" altLang="en-US" smtClean="0"/>
              <a:t> </a:t>
            </a:r>
            <a:endParaRPr lang="ko-KR" altLang="en-US"/>
          </a:p>
        </p:txBody>
      </p:sp>
      <p:sp>
        <p:nvSpPr>
          <p:cNvPr id="145" name="제목 2"/>
          <p:cNvSpPr>
            <a:spLocks noGrp="1"/>
          </p:cNvSpPr>
          <p:nvPr>
            <p:ph type="title"/>
          </p:nvPr>
        </p:nvSpPr>
        <p:spPr>
          <a:xfrm>
            <a:off x="272724" y="576000"/>
            <a:ext cx="9355229" cy="708943"/>
          </a:xfrm>
        </p:spPr>
        <p:txBody>
          <a:bodyPr/>
          <a:lstStyle/>
          <a:p>
            <a:r>
              <a:rPr lang="ko-KR" altLang="en-US"/>
              <a:t>현행 영업관리 프로세스는 기준정보</a:t>
            </a:r>
            <a:r>
              <a:rPr lang="en-US" altLang="ko-KR"/>
              <a:t>,</a:t>
            </a:r>
            <a:r>
              <a:rPr lang="ko-KR" altLang="en-US"/>
              <a:t>주문관리</a:t>
            </a:r>
            <a:r>
              <a:rPr lang="en-US" altLang="ko-KR"/>
              <a:t>,</a:t>
            </a:r>
            <a:r>
              <a:rPr lang="ko-KR" altLang="en-US"/>
              <a:t>재고</a:t>
            </a:r>
            <a:r>
              <a:rPr lang="en-US" altLang="ko-KR"/>
              <a:t>/</a:t>
            </a:r>
            <a:r>
              <a:rPr lang="ko-KR" altLang="en-US"/>
              <a:t>출하관리 등 </a:t>
            </a:r>
            <a:r>
              <a:rPr lang="en-US" altLang="ko-KR"/>
              <a:t>8</a:t>
            </a:r>
            <a:r>
              <a:rPr lang="ko-KR" altLang="en-US"/>
              <a:t>개의 </a:t>
            </a:r>
            <a:r>
              <a:rPr lang="en-US" altLang="ko-KR"/>
              <a:t>Major </a:t>
            </a:r>
            <a:r>
              <a:rPr lang="ko-KR" altLang="en-US"/>
              <a:t>프로세스와 </a:t>
            </a:r>
            <a:r>
              <a:rPr lang="en-US" altLang="ko-KR"/>
              <a:t>25</a:t>
            </a:r>
            <a:r>
              <a:rPr lang="ko-KR" altLang="en-US"/>
              <a:t>개의 </a:t>
            </a:r>
            <a:r>
              <a:rPr lang="en-US" altLang="ko-KR"/>
              <a:t>Sub </a:t>
            </a:r>
            <a:r>
              <a:rPr lang="ko-KR" altLang="en-US"/>
              <a:t>프로세스로 구성됨</a:t>
            </a:r>
          </a:p>
        </p:txBody>
      </p:sp>
      <p:sp>
        <p:nvSpPr>
          <p:cNvPr id="146" name="텍스트 개체 틀 3"/>
          <p:cNvSpPr>
            <a:spLocks noGrp="1"/>
          </p:cNvSpPr>
          <p:nvPr>
            <p:ph type="body" sz="quarter" idx="19"/>
          </p:nvPr>
        </p:nvSpPr>
        <p:spPr>
          <a:xfrm>
            <a:off x="272833" y="134345"/>
            <a:ext cx="6172693" cy="443198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ko-KR"/>
              <a:t>As-Is </a:t>
            </a:r>
            <a:r>
              <a:rPr lang="ko-KR" altLang="en-US"/>
              <a:t>프로세스 체계 </a:t>
            </a:r>
            <a:r>
              <a:rPr lang="en-US" altLang="ko-KR"/>
              <a:t>– 02_</a:t>
            </a:r>
            <a:r>
              <a:rPr lang="ko-KR" altLang="en-US" smtClean="0"/>
              <a:t>영업관리</a:t>
            </a:r>
            <a:r>
              <a:rPr lang="en-US" altLang="ko-KR" smtClean="0"/>
              <a:t>(2/2</a:t>
            </a:r>
            <a:r>
              <a:rPr lang="en-US" altLang="ko-KR"/>
              <a:t>)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auto">
          <a:xfrm>
            <a:off x="359024" y="1484784"/>
            <a:ext cx="8653096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10800"/>
          <a:lstStyle/>
          <a:p>
            <a:pPr>
              <a:lnSpc>
                <a:spcPct val="120000"/>
              </a:lnSpc>
              <a:spcBef>
                <a:spcPct val="30000"/>
              </a:spcBef>
            </a:pPr>
            <a:endParaRPr kumimoji="1" lang="en-US" altLang="ko-KR" sz="1100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1297710" y="3078815"/>
            <a:ext cx="1460989" cy="555625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36000" rIns="0" bIns="36000" anchor="ctr" anchorCtr="0"/>
          <a:lstStyle/>
          <a:p>
            <a:pPr marL="87313">
              <a:defRPr/>
            </a:pPr>
            <a:r>
              <a:rPr lang="en-US" altLang="ko-KR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02.01 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경매관리</a:t>
            </a:r>
            <a:endParaRPr lang="ko-KR" altLang="en-US" sz="1200" b="1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49" name="Rectangle 5"/>
          <p:cNvSpPr>
            <a:spLocks noChangeArrowheads="1"/>
          </p:cNvSpPr>
          <p:nvPr/>
        </p:nvSpPr>
        <p:spPr bwMode="auto">
          <a:xfrm>
            <a:off x="2813540" y="2128813"/>
            <a:ext cx="6211770" cy="6096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kumimoji="1" lang="ko-KR" altLang="en-US" sz="1200">
                <a:solidFill>
                  <a:srgbClr val="000000"/>
                </a:solidFill>
                <a:latin typeface="맑은 고딕" pitchFamily="50" charset="-127"/>
              </a:rPr>
              <a:t> </a:t>
            </a:r>
            <a:r>
              <a:rPr lang="ko-KR" altLang="en-US" sz="1200"/>
              <a:t>고객 요구와 시장기회를 기반으로 신규</a:t>
            </a:r>
            <a:r>
              <a:rPr lang="en-US" altLang="ko-KR" sz="1200"/>
              <a:t>·</a:t>
            </a:r>
            <a:r>
              <a:rPr lang="ko-KR" altLang="en-US" sz="1200"/>
              <a:t>기존 제품의 판매를 확대하고</a:t>
            </a:r>
            <a:r>
              <a:rPr lang="en-US" altLang="ko-KR" sz="1200"/>
              <a:t>, </a:t>
            </a:r>
            <a:r>
              <a:rPr lang="ko-KR" altLang="en-US" sz="1200"/>
              <a:t>수주부터 납기</a:t>
            </a:r>
            <a:r>
              <a:rPr lang="en-US" altLang="ko-KR" sz="1200"/>
              <a:t>·</a:t>
            </a:r>
            <a:r>
              <a:rPr lang="ko-KR" altLang="en-US" sz="1200"/>
              <a:t>출하까지 주문 이행과정을 체계적으로 관리하여 매출 및 수익성 향상에 기여하는 일련의 프로세스임</a:t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0" name="Rectangle 6"/>
          <p:cNvSpPr>
            <a:spLocks noChangeArrowheads="1"/>
          </p:cNvSpPr>
          <p:nvPr/>
        </p:nvSpPr>
        <p:spPr bwMode="auto">
          <a:xfrm>
            <a:off x="2813626" y="3049469"/>
            <a:ext cx="5643197" cy="4826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 latinLnBrk="0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kumimoji="1"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E-Biz</a:t>
            </a:r>
            <a:r>
              <a:rPr kumimoji="1"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시스템을 통해 고객사대상으로 경매 등외품</a:t>
            </a:r>
            <a:r>
              <a:rPr kumimoji="1"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(2</a:t>
            </a:r>
            <a:r>
              <a:rPr kumimoji="1"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급</a:t>
            </a:r>
            <a:r>
              <a:rPr kumimoji="1"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-4</a:t>
            </a:r>
            <a:r>
              <a:rPr kumimoji="1"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급</a:t>
            </a:r>
            <a:r>
              <a:rPr kumimoji="1" lang="en-US" altLang="ko-KR" sz="1200" smtClean="0">
                <a:solidFill>
                  <a:srgbClr val="000000"/>
                </a:solidFill>
                <a:latin typeface="맑은 고딕" pitchFamily="50" charset="-127"/>
              </a:rPr>
              <a:t>)</a:t>
            </a:r>
            <a:r>
              <a:rPr kumimoji="1" lang="ko-KR" altLang="en-US" sz="1200" smtClean="0">
                <a:solidFill>
                  <a:srgbClr val="000000"/>
                </a:solidFill>
                <a:latin typeface="맑은 고딕" pitchFamily="50" charset="-127"/>
              </a:rPr>
              <a:t>을 판매하는 프로세스</a:t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4353954" y="1562576"/>
            <a:ext cx="2612780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b="1">
                <a:solidFill>
                  <a:srgbClr val="000000"/>
                </a:solidFill>
                <a:latin typeface="맑은 고딕" pitchFamily="50" charset="-127"/>
              </a:rPr>
              <a:t>프로세스 정의</a:t>
            </a:r>
          </a:p>
        </p:txBody>
      </p:sp>
      <p:sp>
        <p:nvSpPr>
          <p:cNvPr id="52" name="AutoShape 8"/>
          <p:cNvSpPr>
            <a:spLocks noChangeArrowheads="1"/>
          </p:cNvSpPr>
          <p:nvPr/>
        </p:nvSpPr>
        <p:spPr bwMode="gray">
          <a:xfrm>
            <a:off x="1002323" y="2107655"/>
            <a:ext cx="1689909" cy="500062"/>
          </a:xfrm>
          <a:prstGeom prst="homePlate">
            <a:avLst>
              <a:gd name="adj" fmla="val 34632"/>
            </a:avLst>
          </a:prstGeom>
          <a:solidFill>
            <a:srgbClr val="00206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 anchorCtr="1"/>
          <a:lstStyle/>
          <a:p>
            <a:pPr algn="ctr">
              <a:defRPr/>
            </a:pPr>
            <a:r>
              <a:rPr lang="en-US" altLang="ko-KR" sz="1200" b="1" smtClean="0">
                <a:solidFill>
                  <a:srgbClr val="FFFFFF"/>
                </a:solidFill>
                <a:latin typeface="맑은 고딕" pitchFamily="50" charset="-127"/>
                <a:cs typeface="Arial" charset="0"/>
              </a:rPr>
              <a:t>02. </a:t>
            </a:r>
            <a:r>
              <a:rPr lang="ko-KR" altLang="en-US" sz="1200" b="1" smtClean="0">
                <a:solidFill>
                  <a:srgbClr val="FFFFFF"/>
                </a:solidFill>
                <a:latin typeface="맑은 고딕" pitchFamily="50" charset="-127"/>
                <a:cs typeface="Arial" charset="0"/>
              </a:rPr>
              <a:t>영업관리</a:t>
            </a:r>
            <a:endParaRPr lang="ko-KR" altLang="en-US" sz="1200" b="1" dirty="0">
              <a:solidFill>
                <a:srgbClr val="FFFFFF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53" name="Text Box 9"/>
          <p:cNvSpPr txBox="1">
            <a:spLocks noChangeArrowheads="1"/>
          </p:cNvSpPr>
          <p:nvPr/>
        </p:nvSpPr>
        <p:spPr bwMode="auto">
          <a:xfrm>
            <a:off x="1096976" y="1597319"/>
            <a:ext cx="1279281" cy="307777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b="1" dirty="0">
                <a:solidFill>
                  <a:srgbClr val="000000"/>
                </a:solidFill>
                <a:latin typeface="맑은 고딕" pitchFamily="50" charset="-127"/>
              </a:rPr>
              <a:t>프로세스</a:t>
            </a:r>
          </a:p>
        </p:txBody>
      </p:sp>
      <p:sp>
        <p:nvSpPr>
          <p:cNvPr id="54" name="Line 10"/>
          <p:cNvSpPr>
            <a:spLocks noChangeShapeType="1"/>
          </p:cNvSpPr>
          <p:nvPr/>
        </p:nvSpPr>
        <p:spPr bwMode="auto">
          <a:xfrm>
            <a:off x="830875" y="1873722"/>
            <a:ext cx="1862503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ko-KR" altLang="en-US" sz="120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5" name="Line 11"/>
          <p:cNvSpPr>
            <a:spLocks noChangeShapeType="1"/>
          </p:cNvSpPr>
          <p:nvPr/>
        </p:nvSpPr>
        <p:spPr bwMode="auto">
          <a:xfrm>
            <a:off x="2892667" y="1874317"/>
            <a:ext cx="556406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 w="sm" len="sm"/>
            <a:tailEnd/>
          </a:ln>
          <a:effectLst/>
        </p:spPr>
        <p:txBody>
          <a:bodyPr wrap="none" lIns="18000" tIns="10800" rIns="18000" bIns="10800" anchor="ctr"/>
          <a:lstStyle/>
          <a:p>
            <a:endParaRPr lang="ko-KR" altLang="en-US" sz="120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6" name="Rectangle 12"/>
          <p:cNvSpPr>
            <a:spLocks noChangeArrowheads="1"/>
          </p:cNvSpPr>
          <p:nvPr/>
        </p:nvSpPr>
        <p:spPr bwMode="auto">
          <a:xfrm>
            <a:off x="1297710" y="3876647"/>
            <a:ext cx="1460989" cy="555625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36000" rIns="0" bIns="36000" anchor="ctr" anchorCtr="0"/>
          <a:lstStyle/>
          <a:p>
            <a:pPr marL="87313">
              <a:defRPr/>
            </a:pPr>
            <a:r>
              <a:rPr lang="en-US" altLang="ko-KR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02.02 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고객관리</a:t>
            </a:r>
            <a:endParaRPr lang="ko-KR" altLang="en-US" sz="1200" b="1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57" name="Rectangle 13"/>
          <p:cNvSpPr>
            <a:spLocks noChangeArrowheads="1"/>
          </p:cNvSpPr>
          <p:nvPr/>
        </p:nvSpPr>
        <p:spPr bwMode="auto">
          <a:xfrm>
            <a:off x="2813535" y="3815169"/>
            <a:ext cx="6084287" cy="69532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200" smtClean="0"/>
              <a:t> 고객정보와 </a:t>
            </a:r>
            <a:r>
              <a:rPr lang="ko-KR" altLang="en-US" sz="1200"/>
              <a:t>거래</a:t>
            </a:r>
            <a:r>
              <a:rPr lang="en-US" altLang="ko-KR" sz="1200"/>
              <a:t>·</a:t>
            </a:r>
            <a:r>
              <a:rPr lang="ko-KR" altLang="en-US" sz="1200"/>
              <a:t>접촉 이력을 체계적으로 축적하고</a:t>
            </a:r>
            <a:r>
              <a:rPr lang="en-US" altLang="ko-KR" sz="1200"/>
              <a:t>, </a:t>
            </a:r>
            <a:r>
              <a:rPr lang="ko-KR" altLang="en-US" sz="1200"/>
              <a:t>상담 및 협의 결과와 고객의 </a:t>
            </a:r>
            <a:r>
              <a:rPr lang="ko-KR" altLang="en-US" sz="1200" smtClean="0"/>
              <a:t> 요구사항</a:t>
            </a:r>
            <a:r>
              <a:rPr lang="en-US" altLang="ko-KR" sz="1200" smtClean="0"/>
              <a:t>·</a:t>
            </a:r>
            <a:r>
              <a:rPr lang="ko-KR" altLang="en-US" sz="1200"/>
              <a:t>클레임</a:t>
            </a:r>
            <a:r>
              <a:rPr lang="en-US" altLang="ko-KR" sz="1200"/>
              <a:t>·</a:t>
            </a:r>
            <a:r>
              <a:rPr lang="ko-KR" altLang="en-US" sz="1200"/>
              <a:t>불만 처리 현황을 관리하여 고객관계를 유지</a:t>
            </a:r>
            <a:r>
              <a:rPr lang="en-US" altLang="ko-KR" sz="1200"/>
              <a:t>·</a:t>
            </a:r>
            <a:r>
              <a:rPr lang="ko-KR" altLang="en-US" sz="1200"/>
              <a:t>강화하는 일련의 </a:t>
            </a:r>
            <a:r>
              <a:rPr lang="ko-KR" altLang="en-US" sz="1200" smtClean="0"/>
              <a:t>프로세스</a:t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1297710" y="4690807"/>
            <a:ext cx="1460989" cy="555625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36000" rIns="0" bIns="36000" anchor="ctr" anchorCtr="0"/>
          <a:lstStyle/>
          <a:p>
            <a:pPr marL="87313">
              <a:defRPr/>
            </a:pPr>
            <a:r>
              <a:rPr lang="en-US" altLang="ko-KR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02.03 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수출관리</a:t>
            </a:r>
            <a:endParaRPr lang="ko-KR" altLang="en-US" sz="1200" b="1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59" name="Rectangle 15"/>
          <p:cNvSpPr>
            <a:spLocks noChangeArrowheads="1"/>
          </p:cNvSpPr>
          <p:nvPr/>
        </p:nvSpPr>
        <p:spPr bwMode="auto">
          <a:xfrm>
            <a:off x="2813626" y="4662970"/>
            <a:ext cx="6375641" cy="4826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200"/>
              <a:t>수출관리는 수출제품의 </a:t>
            </a:r>
            <a:r>
              <a:rPr lang="ko-KR" altLang="en-US" sz="1200" smtClean="0"/>
              <a:t>배선</a:t>
            </a:r>
            <a:r>
              <a:rPr lang="en-US" altLang="ko-KR" sz="1200" smtClean="0"/>
              <a:t>, </a:t>
            </a:r>
            <a:r>
              <a:rPr lang="ko-KR" altLang="en-US" sz="1200"/>
              <a:t>선적서류 작성</a:t>
            </a:r>
            <a:r>
              <a:rPr lang="en-US" altLang="ko-KR" sz="1200"/>
              <a:t>·</a:t>
            </a:r>
            <a:r>
              <a:rPr lang="ko-KR" altLang="en-US" sz="1200"/>
              <a:t>관리</a:t>
            </a:r>
            <a:r>
              <a:rPr lang="en-US" altLang="ko-KR" sz="1200"/>
              <a:t>, </a:t>
            </a:r>
            <a:r>
              <a:rPr lang="ko-KR" altLang="en-US" sz="1200"/>
              <a:t>출하 및 수출대금 회수</a:t>
            </a:r>
            <a:r>
              <a:rPr lang="en-US" altLang="ko-KR" sz="1200"/>
              <a:t>(Nego)</a:t>
            </a:r>
            <a:r>
              <a:rPr lang="ko-KR" altLang="en-US" sz="1200"/>
              <a:t>까지 수출 이행 전반을 관리하는 일련의 </a:t>
            </a:r>
            <a:r>
              <a:rPr lang="ko-KR" altLang="en-US" sz="1200" smtClean="0"/>
              <a:t>프로세스</a:t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60" name="Rectangle 16"/>
          <p:cNvSpPr>
            <a:spLocks noChangeArrowheads="1"/>
          </p:cNvSpPr>
          <p:nvPr/>
        </p:nvSpPr>
        <p:spPr bwMode="auto">
          <a:xfrm>
            <a:off x="1297710" y="5504967"/>
            <a:ext cx="1460989" cy="555625"/>
          </a:xfrm>
          <a:prstGeom prst="rect">
            <a:avLst/>
          </a:prstGeom>
          <a:solidFill>
            <a:srgbClr val="DDDDDD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36000" rIns="0" bIns="36000" anchor="ctr" anchorCtr="0"/>
          <a:lstStyle/>
          <a:p>
            <a:pPr marL="87313">
              <a:defRPr/>
            </a:pPr>
            <a:r>
              <a:rPr lang="en-US" altLang="ko-KR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02.04 </a:t>
            </a:r>
            <a:r>
              <a:rPr lang="ko-KR" altLang="en-US" sz="1200" b="1" smtClean="0">
                <a:solidFill>
                  <a:srgbClr val="000000"/>
                </a:solidFill>
                <a:latin typeface="맑은 고딕" pitchFamily="50" charset="-127"/>
                <a:cs typeface="Arial" charset="0"/>
              </a:rPr>
              <a:t>실적관리</a:t>
            </a:r>
            <a:endParaRPr lang="ko-KR" altLang="en-US" sz="1200" b="1" dirty="0">
              <a:solidFill>
                <a:srgbClr val="000000"/>
              </a:solidFill>
              <a:latin typeface="맑은 고딕" pitchFamily="50" charset="-127"/>
              <a:cs typeface="Arial" charset="0"/>
            </a:endParaRPr>
          </a:p>
        </p:txBody>
      </p:sp>
      <p:sp>
        <p:nvSpPr>
          <p:cNvPr id="61" name="Rectangle 17"/>
          <p:cNvSpPr>
            <a:spLocks noChangeArrowheads="1"/>
          </p:cNvSpPr>
          <p:nvPr/>
        </p:nvSpPr>
        <p:spPr bwMode="auto">
          <a:xfrm>
            <a:off x="2813626" y="5428669"/>
            <a:ext cx="6450510" cy="72008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87313" indent="-87313">
              <a:lnSpc>
                <a:spcPct val="120000"/>
              </a:lnSpc>
              <a:spcBef>
                <a:spcPct val="50000"/>
              </a:spcBef>
              <a:buFont typeface="Wingdings" pitchFamily="2" charset="2"/>
              <a:buChar char="§"/>
            </a:pPr>
            <a:r>
              <a:rPr lang="ko-KR" altLang="en-US" sz="1200"/>
              <a:t>판매계획을 수립하고 계획 대비 실적과 차이 원인을 분석하여</a:t>
            </a:r>
            <a:r>
              <a:rPr lang="en-US" altLang="ko-KR" sz="1200"/>
              <a:t>, </a:t>
            </a:r>
            <a:r>
              <a:rPr lang="ko-KR" altLang="en-US" sz="1200"/>
              <a:t>개선사항을 차월 판매계획에 반영하는 일련의 </a:t>
            </a:r>
            <a:r>
              <a:rPr lang="ko-KR" altLang="en-US" sz="1200" smtClean="0"/>
              <a:t>프로세스</a:t>
            </a:r>
            <a:endParaRPr kumimoji="1" lang="ko-KR" altLang="en-US" sz="12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62" name="Line 18"/>
          <p:cNvSpPr>
            <a:spLocks noChangeShapeType="1"/>
          </p:cNvSpPr>
          <p:nvPr/>
        </p:nvSpPr>
        <p:spPr bwMode="auto">
          <a:xfrm>
            <a:off x="2787160" y="2811255"/>
            <a:ext cx="580145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anchor="ctr"/>
          <a:lstStyle/>
          <a:p>
            <a:endParaRPr lang="ko-KR" altLang="en-US" sz="120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63" name="Oval 19"/>
          <p:cNvSpPr>
            <a:spLocks noChangeArrowheads="1"/>
          </p:cNvSpPr>
          <p:nvPr/>
        </p:nvSpPr>
        <p:spPr bwMode="gray">
          <a:xfrm>
            <a:off x="345834" y="2201496"/>
            <a:ext cx="593481" cy="423863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맑은 고딕"/>
              </a:rPr>
              <a:t>Mega</a:t>
            </a:r>
          </a:p>
        </p:txBody>
      </p:sp>
      <p:sp>
        <p:nvSpPr>
          <p:cNvPr id="64" name="Oval 20"/>
          <p:cNvSpPr>
            <a:spLocks noChangeArrowheads="1"/>
          </p:cNvSpPr>
          <p:nvPr/>
        </p:nvSpPr>
        <p:spPr bwMode="gray">
          <a:xfrm>
            <a:off x="345834" y="3191347"/>
            <a:ext cx="593481" cy="423862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sz="1100" b="1" dirty="0">
                <a:solidFill>
                  <a:srgbClr val="000000"/>
                </a:solidFill>
                <a:latin typeface="맑은 고딕"/>
              </a:rPr>
              <a:t>Major</a:t>
            </a:r>
          </a:p>
        </p:txBody>
      </p:sp>
      <p:cxnSp>
        <p:nvCxnSpPr>
          <p:cNvPr id="65" name="Shape 102"/>
          <p:cNvCxnSpPr>
            <a:endCxn id="48" idx="1"/>
          </p:cNvCxnSpPr>
          <p:nvPr/>
        </p:nvCxnSpPr>
        <p:spPr bwMode="auto">
          <a:xfrm rot="16200000" flipH="1">
            <a:off x="787743" y="2846482"/>
            <a:ext cx="819200" cy="200734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66" name="Shape 103"/>
          <p:cNvCxnSpPr>
            <a:endCxn id="56" idx="1"/>
          </p:cNvCxnSpPr>
          <p:nvPr/>
        </p:nvCxnSpPr>
        <p:spPr bwMode="auto">
          <a:xfrm rot="16200000" flipH="1">
            <a:off x="752904" y="3609654"/>
            <a:ext cx="888968" cy="200643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67" name="Shape 104"/>
          <p:cNvCxnSpPr>
            <a:endCxn id="58" idx="1"/>
          </p:cNvCxnSpPr>
          <p:nvPr/>
        </p:nvCxnSpPr>
        <p:spPr bwMode="auto">
          <a:xfrm rot="16200000" flipH="1">
            <a:off x="754115" y="4425025"/>
            <a:ext cx="886548" cy="200641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68" name="Shape 105"/>
          <p:cNvCxnSpPr>
            <a:endCxn id="60" idx="1"/>
          </p:cNvCxnSpPr>
          <p:nvPr/>
        </p:nvCxnSpPr>
        <p:spPr bwMode="auto">
          <a:xfrm rot="16200000" flipH="1">
            <a:off x="796191" y="5281082"/>
            <a:ext cx="802308" cy="200730"/>
          </a:xfrm>
          <a:prstGeom prst="bentConnector2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5534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_D-CUBE TF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100" name="Rectangle 44"/>
          <p:cNvSpPr txBox="1">
            <a:spLocks noChangeArrowheads="1"/>
          </p:cNvSpPr>
          <p:nvPr/>
        </p:nvSpPr>
        <p:spPr bwMode="auto">
          <a:xfrm>
            <a:off x="6766276" y="44803"/>
            <a:ext cx="2826124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342900" indent="-342900" algn="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2. </a:t>
            </a:r>
            <a:r>
              <a:rPr lang="ko-KR" altLang="en-US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영역 별 이슈 및 원인 분석서</a:t>
            </a:r>
          </a:p>
        </p:txBody>
      </p:sp>
      <p:sp>
        <p:nvSpPr>
          <p:cNvPr id="146" name="텍스트 개체 틀 3"/>
          <p:cNvSpPr>
            <a:spLocks noGrp="1"/>
          </p:cNvSpPr>
          <p:nvPr>
            <p:ph type="body" sz="quarter" idx="19"/>
          </p:nvPr>
        </p:nvSpPr>
        <p:spPr>
          <a:xfrm>
            <a:off x="272833" y="134345"/>
            <a:ext cx="6172693" cy="443198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ko-KR" altLang="en-US" smtClean="0"/>
              <a:t>영역별 이슈 종합 </a:t>
            </a:r>
            <a:r>
              <a:rPr lang="en-US" altLang="ko-KR" smtClean="0"/>
              <a:t>– 02_</a:t>
            </a:r>
            <a:r>
              <a:rPr lang="ko-KR" altLang="en-US" smtClean="0"/>
              <a:t>영업관리</a:t>
            </a:r>
            <a:endParaRPr lang="en-US" altLang="ko-KR"/>
          </a:p>
        </p:txBody>
      </p:sp>
      <p:sp>
        <p:nvSpPr>
          <p:cNvPr id="48" name="직사각형 47"/>
          <p:cNvSpPr/>
          <p:nvPr/>
        </p:nvSpPr>
        <p:spPr bwMode="auto">
          <a:xfrm>
            <a:off x="276545" y="635683"/>
            <a:ext cx="976479" cy="82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>
              <a:spcBef>
                <a:spcPct val="20000"/>
              </a:spcBef>
              <a:spcAft>
                <a:spcPct val="0"/>
              </a:spcAft>
              <a:buClr>
                <a:srgbClr val="1D1F6F"/>
              </a:buClr>
              <a:buFont typeface="Wingdings" pitchFamily="2" charset="2"/>
              <a:buNone/>
            </a:pPr>
            <a:r>
              <a:rPr lang="en-US" altLang="ko-KR" sz="1100" b="1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Major Process</a:t>
            </a:r>
            <a:endParaRPr lang="ko-KR" altLang="en-US" sz="1100" b="1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49" name="직사각형 48"/>
          <p:cNvSpPr/>
          <p:nvPr/>
        </p:nvSpPr>
        <p:spPr bwMode="auto">
          <a:xfrm>
            <a:off x="1206584" y="635683"/>
            <a:ext cx="2630629" cy="828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87313" eaLnBrk="0" latinLnBrk="0">
              <a:spcBef>
                <a:spcPct val="20000"/>
              </a:spcBef>
              <a:buClr>
                <a:srgbClr val="1D1F6F"/>
              </a:buClr>
            </a:pPr>
            <a:r>
              <a:rPr lang="en-US" altLang="ko-KR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02.02 </a:t>
            </a:r>
            <a:r>
              <a:rPr lang="ko-KR" altLang="en-US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주문관리</a:t>
            </a:r>
            <a:endParaRPr lang="ko-KR" altLang="en-US" sz="1100" b="1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3829210" y="635683"/>
            <a:ext cx="906691" cy="82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>
              <a:spcBef>
                <a:spcPct val="20000"/>
              </a:spcBef>
              <a:spcAft>
                <a:spcPct val="0"/>
              </a:spcAft>
              <a:buClr>
                <a:srgbClr val="1D1F6F"/>
              </a:buClr>
              <a:buFont typeface="Wingdings" pitchFamily="2" charset="2"/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주관부서</a:t>
            </a:r>
          </a:p>
        </p:txBody>
      </p:sp>
      <p:sp>
        <p:nvSpPr>
          <p:cNvPr id="51" name="직사각형 50"/>
          <p:cNvSpPr/>
          <p:nvPr/>
        </p:nvSpPr>
        <p:spPr bwMode="auto">
          <a:xfrm>
            <a:off x="4735902" y="635683"/>
            <a:ext cx="2005684" cy="828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87313" indent="-87313" eaLnBrk="0">
              <a:lnSpc>
                <a:spcPts val="1000"/>
              </a:lnSpc>
              <a:spcBef>
                <a:spcPct val="20000"/>
              </a:spcBef>
              <a:spcAft>
                <a:spcPct val="30000"/>
              </a:spcAft>
              <a:buClr>
                <a:srgbClr val="1D1F6F"/>
              </a:buClr>
              <a:buFont typeface="Wingdings" pitchFamily="2" charset="2"/>
              <a:buChar char="§"/>
            </a:pPr>
            <a:r>
              <a:rPr lang="ko-KR" altLang="en-US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내수영업팀</a:t>
            </a:r>
            <a:r>
              <a:rPr lang="en-US" altLang="ko-KR" sz="1100" b="1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(</a:t>
            </a:r>
            <a:r>
              <a:rPr lang="en-US" altLang="ko-KR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Luxteel</a:t>
            </a:r>
            <a:r>
              <a:rPr lang="ko-KR" altLang="en-US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영업팀</a:t>
            </a:r>
            <a:r>
              <a:rPr lang="en-US" altLang="ko-KR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)</a:t>
            </a:r>
            <a:endParaRPr lang="en-US" altLang="ko-KR" sz="1100" b="1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  <a:p>
            <a:pPr marL="87313" indent="-87313" eaLnBrk="0" latinLnBrk="0">
              <a:lnSpc>
                <a:spcPts val="1000"/>
              </a:lnSpc>
              <a:spcBef>
                <a:spcPct val="20000"/>
              </a:spcBef>
              <a:spcAft>
                <a:spcPct val="30000"/>
              </a:spcAft>
              <a:buClr>
                <a:srgbClr val="1D1F6F"/>
              </a:buClr>
              <a:buFont typeface="Wingdings" pitchFamily="2" charset="2"/>
              <a:buChar char="§"/>
            </a:pPr>
            <a:r>
              <a:rPr lang="ko-KR" altLang="en-US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수출영업팀</a:t>
            </a:r>
            <a:r>
              <a:rPr lang="en-US" altLang="ko-KR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(Luxteel/Appsteel </a:t>
            </a:r>
            <a:r>
              <a:rPr lang="ko-KR" altLang="en-US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영업팀</a:t>
            </a:r>
            <a:r>
              <a:rPr lang="en-US" altLang="ko-KR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)</a:t>
            </a:r>
            <a:endParaRPr lang="ko-KR" altLang="en-US" sz="1100" b="1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52" name="직사각형 51"/>
          <p:cNvSpPr/>
          <p:nvPr/>
        </p:nvSpPr>
        <p:spPr bwMode="auto">
          <a:xfrm>
            <a:off x="6741586" y="635683"/>
            <a:ext cx="906691" cy="82800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>
              <a:spcBef>
                <a:spcPct val="20000"/>
              </a:spcBef>
              <a:spcAft>
                <a:spcPct val="0"/>
              </a:spcAft>
              <a:buClr>
                <a:srgbClr val="1D1F6F"/>
              </a:buClr>
              <a:buFont typeface="Wingdings" pitchFamily="2" charset="2"/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관련 시스템</a:t>
            </a:r>
          </a:p>
        </p:txBody>
      </p:sp>
      <p:sp>
        <p:nvSpPr>
          <p:cNvPr id="53" name="직사각형 52"/>
          <p:cNvSpPr/>
          <p:nvPr/>
        </p:nvSpPr>
        <p:spPr bwMode="auto">
          <a:xfrm>
            <a:off x="7605156" y="635683"/>
            <a:ext cx="1958997" cy="828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87313" indent="-87313" eaLnBrk="0" latinLnBrk="0">
              <a:lnSpc>
                <a:spcPts val="1000"/>
              </a:lnSpc>
              <a:spcBef>
                <a:spcPct val="20000"/>
              </a:spcBef>
              <a:spcAft>
                <a:spcPct val="30000"/>
              </a:spcAft>
              <a:buClr>
                <a:srgbClr val="1D1F6F"/>
              </a:buClr>
              <a:buFont typeface="Wingdings" pitchFamily="2" charset="2"/>
              <a:buChar char="§"/>
            </a:pPr>
            <a:r>
              <a:rPr lang="en-US" altLang="ko-KR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ERP </a:t>
            </a:r>
            <a:r>
              <a:rPr lang="ko-KR" altLang="en-US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영업시스템</a:t>
            </a:r>
            <a:endParaRPr lang="en-US" altLang="ko-KR" sz="1100" b="1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  <a:p>
            <a:pPr marL="87313" indent="-87313" eaLnBrk="0" latinLnBrk="0">
              <a:lnSpc>
                <a:spcPts val="1000"/>
              </a:lnSpc>
              <a:spcBef>
                <a:spcPct val="20000"/>
              </a:spcBef>
              <a:spcAft>
                <a:spcPct val="30000"/>
              </a:spcAft>
              <a:buClr>
                <a:srgbClr val="1D1F6F"/>
              </a:buClr>
              <a:buFont typeface="Wingdings" pitchFamily="2" charset="2"/>
              <a:buChar char="§"/>
            </a:pPr>
            <a:r>
              <a:rPr lang="en-US" altLang="ko-KR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E-Biz/SteelShop</a:t>
            </a:r>
            <a:r>
              <a:rPr lang="ko-KR" altLang="en-US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시스템</a:t>
            </a:r>
            <a:endParaRPr lang="en-US" altLang="ko-KR" sz="1100" b="1" smtClea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  <a:p>
            <a:pPr marL="87313" indent="-87313" eaLnBrk="0" latinLnBrk="0">
              <a:lnSpc>
                <a:spcPts val="1000"/>
              </a:lnSpc>
              <a:spcBef>
                <a:spcPct val="20000"/>
              </a:spcBef>
              <a:spcAft>
                <a:spcPct val="30000"/>
              </a:spcAft>
              <a:buClr>
                <a:srgbClr val="1D1F6F"/>
              </a:buClr>
              <a:buFont typeface="Wingdings" pitchFamily="2" charset="2"/>
              <a:buChar char="§"/>
            </a:pPr>
            <a:r>
              <a:rPr lang="en-US" altLang="ko-KR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MES/APS</a:t>
            </a:r>
            <a:r>
              <a:rPr lang="ko-KR" altLang="en-US" sz="1100" b="1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시스템</a:t>
            </a:r>
            <a:endParaRPr lang="en-US" altLang="ko-KR" sz="1100" b="1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graphicFrame>
        <p:nvGraphicFramePr>
          <p:cNvPr id="54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953020"/>
              </p:ext>
            </p:extLst>
          </p:nvPr>
        </p:nvGraphicFramePr>
        <p:xfrm>
          <a:off x="276546" y="1522812"/>
          <a:ext cx="9287608" cy="4662982"/>
        </p:xfrm>
        <a:graphic>
          <a:graphicData uri="http://schemas.openxmlformats.org/drawingml/2006/table">
            <a:tbl>
              <a:tblPr/>
              <a:tblGrid>
                <a:gridCol w="981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7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0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27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59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6528"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ID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명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내용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구분 </a:t>
                      </a:r>
                      <a:r>
                        <a:rPr kumimoji="1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Sub Process)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원천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6527"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algn="ctr" fontAlgn="ctr" latinLnBrk="0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PI-I-02-01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판매계획이 상위수준 </a:t>
                      </a:r>
                      <a:r>
                        <a:rPr kumimoji="1" lang="en-US" altLang="ko-KR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품목</a:t>
                      </a:r>
                      <a:r>
                        <a:rPr kumimoji="1" lang="en-US" altLang="ko-KR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) </a:t>
                      </a: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총량 중심으로 수립되어 손익실적 세부분석 어려움</a:t>
                      </a:r>
                      <a:endParaRPr kumimoji="1" lang="en-US" altLang="ko-KR" sz="11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판매계획이 품명별 총량 중심으로 수립되어 손익 실적에 대한 계획 대비 차이 및 원인 분석이 어려움</a:t>
                      </a:r>
                      <a:endParaRPr lang="en-US" altLang="ko-K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판매계획관리</a:t>
                      </a:r>
                      <a:endParaRPr kumimoji="1" lang="ko-KR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71450" indent="-171450"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기존</a:t>
                      </a:r>
                      <a:r>
                        <a:rPr kumimoji="1"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산출물</a:t>
                      </a:r>
                      <a:endParaRPr kumimoji="1" lang="en-US" altLang="ko-KR" sz="1100" b="0" i="0" u="none" strike="noStrike" kern="1200" baseline="0" dirty="0">
                        <a:solidFill>
                          <a:srgbClr val="000000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+mn-cs"/>
                      </a:endParaRPr>
                    </a:p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영업팀 </a:t>
                      </a:r>
                      <a:r>
                        <a:rPr kumimoji="1"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인터뷰</a:t>
                      </a:r>
                      <a:endParaRPr kumimoji="1" lang="en-US" altLang="ko-KR" sz="1100" b="0" i="0" u="none" strike="noStrike" kern="1200" baseline="0" dirty="0">
                        <a:solidFill>
                          <a:srgbClr val="000000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+mn-cs"/>
                      </a:endParaRPr>
                    </a:p>
                  </a:txBody>
                  <a:tcPr marL="66462" marR="66462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8098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+mj-ea"/>
                          <a:ea typeface="+mn-ea"/>
                          <a:cs typeface="+mn-cs"/>
                        </a:rPr>
                        <a:t>PI-I-02-02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영업 견적원가 산출의 부정확성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lang="ko-KR" altLang="en-US" sz="1100" smtClean="0"/>
                        <a:t>견적원가 산출체계가 시스템화</a:t>
                      </a:r>
                      <a:r>
                        <a:rPr lang="en-US" altLang="ko-KR" sz="1100" smtClean="0"/>
                        <a:t>·</a:t>
                      </a:r>
                      <a:r>
                        <a:rPr lang="ko-KR" altLang="en-US" sz="1100" smtClean="0"/>
                        <a:t>표준화되어 있지 않아 영업사원별 산출 기준과 결과의 편차가 크고</a:t>
                      </a:r>
                      <a:r>
                        <a:rPr lang="en-US" altLang="ko-KR" sz="1100" smtClean="0"/>
                        <a:t>, </a:t>
                      </a:r>
                      <a:r>
                        <a:rPr lang="ko-KR" altLang="en-US" sz="1100" smtClean="0"/>
                        <a:t>견적원가의 정확성과 신뢰성이 저하됨</a:t>
                      </a:r>
                      <a:endParaRPr lang="en-US" altLang="ko-KR" sz="1100" smtClean="0"/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기존제품 견적원가 및 신제품 견적원가 산출시 시간이 많이 소요됨</a:t>
                      </a:r>
                      <a:endParaRPr kumimoji="0" lang="ko-KR" altLang="en-US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anose="020B0604020202020204" pitchFamily="34" charset="0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kern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견적</a:t>
                      </a:r>
                      <a:r>
                        <a:rPr kumimoji="1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관리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kern="120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As-Is</a:t>
                      </a: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이슈 및 원인분석서</a:t>
                      </a: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/>
                      </a:r>
                      <a:b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</a:b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</a:t>
                      </a: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)</a:t>
                      </a:r>
                    </a:p>
                  </a:txBody>
                  <a:tcPr marL="66462" marR="66462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58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+mj-ea"/>
                          <a:ea typeface="+mn-ea"/>
                          <a:cs typeface="+mn-cs"/>
                        </a:rPr>
                        <a:t>PI-I-02-03</a:t>
                      </a:r>
                      <a:endParaRPr lang="ko-KR" altLang="en-US" sz="1100" b="0" i="0" u="none" strike="noStrike" kern="1200" smtClean="0">
                        <a:solidFill>
                          <a:srgbClr val="000000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복잡하고 반복적인 주문 입력 업무로 인해 오류가 많으며 영업사원 의 업무 부담이 과중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주문입력의 복잡성으로 주문입력 실수 여지가 많음</a:t>
                      </a:r>
                      <a:endParaRPr kumimoji="0" lang="en-US" altLang="ko-KR" sz="11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anose="020B0604020202020204" pitchFamily="34" charset="0"/>
                      </a:endParaRPr>
                    </a:p>
                    <a:p>
                      <a:pPr marL="358775" marR="0" lvl="1" indent="-18415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0" algn="l"/>
                        </a:tabLst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엑셀</a:t>
                      </a:r>
                      <a:r>
                        <a:rPr kumimoji="0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,PDF,</a:t>
                      </a: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카톡 주문접수내역을 당사 시스템으로 변환시 오입력 발생</a:t>
                      </a:r>
                      <a:endParaRPr kumimoji="0" lang="en-US" altLang="ko-KR" sz="11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주문입력시 전체영업업무의 평균 </a:t>
                      </a:r>
                      <a:r>
                        <a:rPr kumimoji="0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1/3 </a:t>
                      </a: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이상이 업무량이 소요됨</a:t>
                      </a:r>
                      <a:endParaRPr kumimoji="0" lang="ko-KR" altLang="en-US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anose="020B0604020202020204" pitchFamily="34" charset="0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주문접수</a:t>
                      </a:r>
                      <a:r>
                        <a:rPr kumimoji="1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/</a:t>
                      </a:r>
                      <a:r>
                        <a:rPr kumimoji="1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등록</a:t>
                      </a: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kern="120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As-Is</a:t>
                      </a: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이슈 및 원인분석서</a:t>
                      </a: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/>
                      </a:r>
                      <a:b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</a:b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</a:t>
                      </a: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)</a:t>
                      </a:r>
                    </a:p>
                  </a:txBody>
                  <a:tcPr marL="66462" marR="66462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7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_D-CUBE TF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100" name="Rectangle 44"/>
          <p:cNvSpPr txBox="1">
            <a:spLocks noChangeArrowheads="1"/>
          </p:cNvSpPr>
          <p:nvPr/>
        </p:nvSpPr>
        <p:spPr bwMode="auto">
          <a:xfrm>
            <a:off x="6766276" y="44803"/>
            <a:ext cx="2826124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342900" indent="-342900" algn="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2. </a:t>
            </a:r>
            <a:r>
              <a:rPr lang="ko-KR" altLang="en-US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영역 별 이슈 및 원인 분석서</a:t>
            </a:r>
          </a:p>
        </p:txBody>
      </p:sp>
      <p:sp>
        <p:nvSpPr>
          <p:cNvPr id="146" name="텍스트 개체 틀 3"/>
          <p:cNvSpPr>
            <a:spLocks noGrp="1"/>
          </p:cNvSpPr>
          <p:nvPr>
            <p:ph type="body" sz="quarter" idx="19"/>
          </p:nvPr>
        </p:nvSpPr>
        <p:spPr>
          <a:xfrm>
            <a:off x="272833" y="146592"/>
            <a:ext cx="6172693" cy="418704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ko-KR" altLang="en-US"/>
              <a:t>영역별 이슈 종합 </a:t>
            </a:r>
            <a:r>
              <a:rPr lang="en-US" altLang="ko-KR"/>
              <a:t>– 02_</a:t>
            </a:r>
            <a:r>
              <a:rPr lang="ko-KR" altLang="en-US"/>
              <a:t>영업관리</a:t>
            </a:r>
            <a:endParaRPr lang="en-US" altLang="ko-KR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167596"/>
              </p:ext>
            </p:extLst>
          </p:nvPr>
        </p:nvGraphicFramePr>
        <p:xfrm>
          <a:off x="279578" y="642241"/>
          <a:ext cx="9280800" cy="5553338"/>
        </p:xfrm>
        <a:graphic>
          <a:graphicData uri="http://schemas.openxmlformats.org/drawingml/2006/table">
            <a:tbl>
              <a:tblPr/>
              <a:tblGrid>
                <a:gridCol w="916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4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3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2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6617"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ID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명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내용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구분</a:t>
                      </a: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원천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383"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+mj-ea"/>
                          <a:ea typeface="돋움" panose="020B0600000101010101" pitchFamily="50" charset="-127"/>
                          <a:cs typeface="+mn-cs"/>
                        </a:rPr>
                        <a:t>PI-I-02-04</a:t>
                      </a:r>
                      <a:endParaRPr kumimoji="1" lang="ko-KR" altLang="en-US" sz="1100" b="0" i="0" u="none" strike="noStrike" kern="1200" smtClean="0">
                        <a:solidFill>
                          <a:srgbClr val="000000"/>
                        </a:solidFill>
                        <a:latin typeface="+mj-ea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오더별로 주문진행정보가</a:t>
                      </a:r>
                      <a:endParaRPr kumimoji="1" lang="en-US" altLang="ko-KR" sz="11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부정확함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담당자별 엑셀 파일에 주문에 대한 현황</a:t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생산</a:t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납기</a:t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출고 현황</a:t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특이사항 등을 관리하고 있어 제때 업데이트 하지 않는 경우 정보가 부정확함</a:t>
                      </a:r>
                      <a:endParaRPr lang="en-US" altLang="ko-KR" sz="11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현재 영업사원이 관리</a:t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사용하는 오더상태 파일의 형식은 개인별로 다르고</a:t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공유가 제한적이므로 통합 조회와 타 직원을 통한 업무 대체가 아려움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주문접수</a:t>
                      </a:r>
                      <a:r>
                        <a:rPr kumimoji="1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/</a:t>
                      </a:r>
                      <a:r>
                        <a:rPr kumimoji="1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등록</a:t>
                      </a: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As-Is</a:t>
                      </a:r>
                      <a: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이슈 및 원인분석서</a:t>
                      </a:r>
                      <a: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/>
                      </a:r>
                      <a:b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</a:br>
                      <a: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</a:t>
                      </a:r>
                      <a: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)</a:t>
                      </a:r>
                    </a:p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 인터뷰</a:t>
                      </a:r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+mn-cs"/>
                      </a:endParaRPr>
                    </a:p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기존</a:t>
                      </a: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산출물</a:t>
                      </a:r>
                      <a:endParaRPr lang="en-US" altLang="ko-KR" sz="1100" b="0" i="0" u="none" strike="noStrike" kern="1200" dirty="0">
                        <a:solidFill>
                          <a:srgbClr val="000000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+mn-cs"/>
                      </a:endParaRPr>
                    </a:p>
                  </a:txBody>
                  <a:tcPr marL="66462" marR="66462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750"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+mj-ea"/>
                          <a:ea typeface="돋움" panose="020B0600000101010101" pitchFamily="50" charset="-127"/>
                          <a:cs typeface="+mn-cs"/>
                        </a:rPr>
                        <a:t>PI-I-02-05</a:t>
                      </a:r>
                      <a:endParaRPr kumimoji="1" lang="ko-KR" altLang="en-US" sz="1100" b="0" i="0" u="none" strike="noStrike" kern="1200" smtClean="0">
                        <a:solidFill>
                          <a:srgbClr val="000000"/>
                        </a:solidFill>
                        <a:latin typeface="+mj-ea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제품별로 부정확한</a:t>
                      </a:r>
                      <a:endParaRPr kumimoji="1" lang="en-US" altLang="ko-KR" sz="11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원가정보 제공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도료 실적처리</a:t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임가공비</a:t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휴지시간 등에 대한 제품별 원가배분기준이 정교하지 않아 제품별 원가 왜곡되는 사례가 빈번하여</a:t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원가 신뢰성 저하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kern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원가손익분석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100" b="0" i="0" u="none" strike="noStrike" kern="120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As-Is</a:t>
                      </a:r>
                      <a: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이슈 및 원인분석서</a:t>
                      </a:r>
                      <a: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/>
                      </a:r>
                      <a:b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</a:br>
                      <a: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</a:t>
                      </a:r>
                      <a:r>
                        <a:rPr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)</a:t>
                      </a:r>
                    </a:p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 인터뷰</a:t>
                      </a:r>
                      <a:endParaRPr lang="ko-KR" altLang="en-US" sz="1100" b="0" i="0" u="none" strike="noStrike" kern="1200" dirty="0">
                        <a:solidFill>
                          <a:srgbClr val="000000"/>
                        </a:solidFill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+mn-cs"/>
                      </a:endParaRPr>
                    </a:p>
                  </a:txBody>
                  <a:tcPr marL="66462" marR="66462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282265"/>
                  </a:ext>
                </a:extLst>
              </a:tr>
              <a:tr h="108138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+mj-ea"/>
                          <a:ea typeface="돋움" panose="020B0600000101010101" pitchFamily="50" charset="-127"/>
                          <a:cs typeface="+mn-cs"/>
                        </a:rPr>
                        <a:t>PI-I-02-06</a:t>
                      </a:r>
                      <a:endParaRPr kumimoji="1" lang="ko-KR" altLang="en-US" sz="1100" b="0" i="0" u="none" strike="noStrike" kern="1200" smtClean="0">
                        <a:solidFill>
                          <a:srgbClr val="000000"/>
                        </a:solidFill>
                        <a:latin typeface="+mj-ea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영업활동 현장에서 업무처리할 수 있는 업무환경 미흡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영업사원이 고객 현장에서 영업정보 조회와 업무처리를 수행할 수 있는 환경이 미흡</a:t>
                      </a:r>
                      <a:endParaRPr kumimoji="0" lang="en-US" altLang="ko-KR" sz="11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anose="020B0604020202020204" pitchFamily="34" charset="0"/>
                      </a:endParaRPr>
                    </a:p>
                    <a:p>
                      <a:pPr marL="358775" marR="0" lvl="1" indent="-18415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0" algn="l"/>
                        </a:tabLst>
                        <a:defRPr/>
                      </a:pPr>
                      <a:r>
                        <a:rPr kumimoji="0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VPN </a:t>
                      </a: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연결통한 사내시스템 접속시 시간과다 소요</a:t>
                      </a:r>
                      <a:endParaRPr kumimoji="0" lang="en-US" altLang="ko-KR" sz="11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anose="020B0604020202020204" pitchFamily="34" charset="0"/>
                      </a:endParaRPr>
                    </a:p>
                    <a:p>
                      <a:pPr marL="358775" marR="0" lvl="1" indent="-18415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0" algn="l"/>
                        </a:tabLst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모바일로 재고조회</a:t>
                      </a:r>
                      <a:r>
                        <a:rPr kumimoji="0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견적조회</a:t>
                      </a:r>
                      <a:r>
                        <a:rPr kumimoji="0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출하지시 불가로 즉시 고객대응에 어려움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주문진행관리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As-Is</a:t>
                      </a: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이슈 및 원인분석서</a:t>
                      </a: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/>
                      </a:r>
                      <a:b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</a:b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</a:t>
                      </a: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)</a:t>
                      </a:r>
                    </a:p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 인터뷰</a:t>
                      </a:r>
                    </a:p>
                  </a:txBody>
                  <a:tcPr marL="66462" marR="66462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761222"/>
                  </a:ext>
                </a:extLst>
              </a:tr>
              <a:tr h="108138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+mj-ea"/>
                          <a:ea typeface="돋움" panose="020B0600000101010101" pitchFamily="50" charset="-127"/>
                          <a:cs typeface="+mn-cs"/>
                        </a:rPr>
                        <a:t>PI-I-02-07</a:t>
                      </a:r>
                      <a:endParaRPr kumimoji="1" lang="ko-KR" altLang="en-US" sz="1100" b="0" i="0" u="none" strike="noStrike" kern="1200" smtClean="0">
                        <a:solidFill>
                          <a:srgbClr val="000000"/>
                        </a:solidFill>
                        <a:latin typeface="+mj-ea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수출출하지시 업무가 오프라인으로 이루어져 업무</a:t>
                      </a:r>
                      <a:r>
                        <a:rPr kumimoji="1" lang="en-US" altLang="ko-KR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Loss </a:t>
                      </a: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빈번함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수출 출하는 엑셀</a:t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메일로 요청한 뒤 해외물류가 전산에서 재확인해야 하며</a:t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수출 출하취소가 공급사에 전달되지 않는 경우</a:t>
                      </a:r>
                      <a:r>
                        <a:rPr lang="ko-KR" altLang="en-US" sz="1100" kern="1200" baseline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endParaRPr lang="en-US" altLang="ko-KR" sz="11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영업이 메일</a:t>
                      </a:r>
                      <a:r>
                        <a:rPr lang="en-US" altLang="ko-KR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메신저로 주문번호만 전달하거나 일부 코일만 출고하는 경우 해외물류가 다시 대상 코일을 선별하며 메일 누락 사례 발생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kern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수출출하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As-Is</a:t>
                      </a: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이슈 및 원인분석서</a:t>
                      </a: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/>
                      </a:r>
                      <a:b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</a:b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</a:t>
                      </a: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)</a:t>
                      </a:r>
                    </a:p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 인터뷰</a:t>
                      </a:r>
                    </a:p>
                  </a:txBody>
                  <a:tcPr marL="66462" marR="66462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414910"/>
                  </a:ext>
                </a:extLst>
              </a:tr>
              <a:tr h="108138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+mj-ea"/>
                          <a:ea typeface="돋움" panose="020B0600000101010101" pitchFamily="50" charset="-127"/>
                          <a:cs typeface="+mn-cs"/>
                        </a:rPr>
                        <a:t>PI-I-02-08</a:t>
                      </a:r>
                      <a:endParaRPr kumimoji="1" lang="ko-KR" altLang="en-US" sz="1100" b="0" i="0" u="none" strike="noStrike" kern="1200" smtClean="0">
                        <a:solidFill>
                          <a:srgbClr val="000000"/>
                        </a:solidFill>
                        <a:latin typeface="+mj-ea"/>
                        <a:ea typeface="돋움" panose="020B0600000101010101" pitchFamily="50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계획대비 실적 차이분석</a:t>
                      </a:r>
                      <a:endParaRPr kumimoji="1" lang="en-US" altLang="ko-KR" sz="11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본고딕 Medium" panose="020B0600000000000000" pitchFamily="34" charset="-127"/>
                          <a:ea typeface="본고딕 Medium" panose="020B0600000000000000" pitchFamily="34" charset="-127"/>
                          <a:cs typeface="+mn-cs"/>
                        </a:rPr>
                        <a:t>어려움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Medium" panose="020B0600000000000000" pitchFamily="34" charset="-127"/>
                        <a:ea typeface="본고딕 Medium" panose="020B0600000000000000" pitchFamily="34" charset="-127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계획대비 실적 분석시 차이원인이 명확하게 설명이 안됨</a:t>
                      </a:r>
                      <a:endParaRPr lang="en-US" altLang="ko-KR" sz="1100" kern="120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lang="ko-KR" altLang="en-US" sz="11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실적데이터 추출시 시간 소요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kern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원가손익분석</a:t>
                      </a: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본고딕 Normal" panose="020B0400000000000000" pitchFamily="34" charset="-127"/>
                        <a:ea typeface="본고딕 Normal" panose="020B0400000000000000" pitchFamily="34" charset="-127"/>
                      </a:endParaRP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As-Is</a:t>
                      </a: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이슈 및 원인분석서</a:t>
                      </a: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/>
                      </a:r>
                      <a:b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</a:b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</a:t>
                      </a:r>
                      <a:r>
                        <a:rPr lang="en-US" altLang="ko-KR" sz="1100" b="0" i="0" u="none" strike="noStrike" kern="1200" baseline="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)</a:t>
                      </a:r>
                    </a:p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100" b="0" i="0" u="none" strike="noStrike" kern="1200" smtClean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데이터 분석</a:t>
                      </a:r>
                    </a:p>
                  </a:txBody>
                  <a:tcPr marL="66462" marR="66462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020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391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_D-CUBE TF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100" name="Rectangle 44"/>
          <p:cNvSpPr txBox="1">
            <a:spLocks noChangeArrowheads="1"/>
          </p:cNvSpPr>
          <p:nvPr/>
        </p:nvSpPr>
        <p:spPr bwMode="auto">
          <a:xfrm>
            <a:off x="6766276" y="44803"/>
            <a:ext cx="2826124" cy="528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342900" indent="-342900" algn="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2. </a:t>
            </a:r>
            <a:r>
              <a:rPr lang="ko-KR" altLang="en-US" sz="1400" b="1" kern="0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영역 별 이슈 및 원인 분석서</a:t>
            </a:r>
          </a:p>
        </p:txBody>
      </p:sp>
      <p:sp>
        <p:nvSpPr>
          <p:cNvPr id="146" name="텍스트 개체 틀 3"/>
          <p:cNvSpPr>
            <a:spLocks noGrp="1"/>
          </p:cNvSpPr>
          <p:nvPr>
            <p:ph type="body" sz="quarter" idx="19"/>
          </p:nvPr>
        </p:nvSpPr>
        <p:spPr>
          <a:xfrm>
            <a:off x="272833" y="134345"/>
            <a:ext cx="6172693" cy="443198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ko-KR" altLang="en-US" smtClean="0"/>
              <a:t>이슈별 원인 분석 </a:t>
            </a:r>
            <a:r>
              <a:rPr lang="en-US" altLang="ko-KR" smtClean="0"/>
              <a:t>– </a:t>
            </a:r>
            <a:r>
              <a:rPr lang="en-US" altLang="ko-KR" smtClean="0"/>
              <a:t>02_</a:t>
            </a:r>
            <a:r>
              <a:rPr lang="ko-KR" altLang="en-US" smtClean="0"/>
              <a:t>영업관리</a:t>
            </a:r>
            <a:endParaRPr lang="en-US" altLang="ko-KR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780735"/>
              </p:ext>
            </p:extLst>
          </p:nvPr>
        </p:nvGraphicFramePr>
        <p:xfrm>
          <a:off x="287762" y="2880057"/>
          <a:ext cx="9272616" cy="2014558"/>
        </p:xfrm>
        <a:graphic>
          <a:graphicData uri="http://schemas.openxmlformats.org/drawingml/2006/table">
            <a:tbl>
              <a:tblPr/>
              <a:tblGrid>
                <a:gridCol w="907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4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원인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Category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33231" marR="33231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원인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분석 내용</a:t>
                      </a:r>
                    </a:p>
                  </a:txBody>
                  <a:tcPr marL="84420" marR="8442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078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090" marR="83090" marT="46800" marB="468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0000" marR="0" lvl="0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엑셀</a:t>
                      </a:r>
                      <a:r>
                        <a:rPr kumimoji="0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,PDF,</a:t>
                      </a: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카톡 주문접수내역을 당사 시스템으로 변환시 </a:t>
                      </a: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오류가 많음</a:t>
                      </a:r>
                      <a:endParaRPr kumimoji="1" lang="en-US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   - </a:t>
                      </a: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주문접수양식</a:t>
                      </a: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(PO) </a:t>
                      </a: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표준화</a:t>
                      </a: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미흡으로 당사 시스템의 주문데이터로 자동으로 전환하기 어려운 구조임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90000" marR="0" lvl="0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주문번호의 행번입력시 입력해야 할 항목이 평균 </a:t>
                      </a: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40</a:t>
                      </a: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개 이상으로 많으며</a:t>
                      </a: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시스템에서 필수 및 제약조건을 자동으로 체크기능이 부족함</a:t>
                      </a:r>
                      <a:endParaRPr kumimoji="1" lang="en-US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90000" marR="0" lvl="0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해외법인에서 접수받는 주문도 오프라인 형태로 받아 수기입력해야 주문건수가 많음</a:t>
                      </a:r>
                      <a:endParaRPr kumimoji="1" lang="en-US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90000" marR="0" lvl="0" indent="-90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고객사가 직접 주문을 입력할 수 있는 플랫폼 부재로 영업사원이 일일이 전부 입력해야 함</a:t>
                      </a:r>
                      <a:endParaRPr kumimoji="1" lang="en-US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83090" marR="83090" marT="46800" marB="4680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651320"/>
              </p:ext>
            </p:extLst>
          </p:nvPr>
        </p:nvGraphicFramePr>
        <p:xfrm>
          <a:off x="279578" y="642241"/>
          <a:ext cx="9280800" cy="1394439"/>
        </p:xfrm>
        <a:graphic>
          <a:graphicData uri="http://schemas.openxmlformats.org/drawingml/2006/table">
            <a:tbl>
              <a:tblPr/>
              <a:tblGrid>
                <a:gridCol w="916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3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4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3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23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6617"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</a:t>
                      </a: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ID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명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내용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구분</a:t>
                      </a: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lnSpc>
                          <a:spcPct val="120000"/>
                        </a:lnSpc>
                        <a:spcBef>
                          <a:spcPct val="3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anose="020B0600000101010101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4pPr>
                      <a:lvl5pPr algn="l" eaLnBrk="0" hangingPunct="0">
                        <a:spcBef>
                          <a:spcPct val="20000"/>
                        </a:spcBef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 b="1">
                          <a:solidFill>
                            <a:schemeClr val="tx1"/>
                          </a:solidFill>
                          <a:latin typeface="돋움" panose="020B0600000101010101" pitchFamily="50" charset="-127"/>
                          <a:ea typeface="돋움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이슈 원천</a:t>
                      </a: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38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smtClean="0">
                          <a:solidFill>
                            <a:srgbClr val="000000"/>
                          </a:solidFill>
                          <a:latin typeface="+mj-ea"/>
                          <a:ea typeface="+mn-ea"/>
                          <a:cs typeface="+mn-cs"/>
                        </a:rPr>
                        <a:t>PI-I-02-03</a:t>
                      </a:r>
                      <a:endParaRPr lang="ko-KR" altLang="en-US" sz="1100" b="0" i="0" u="none" strike="noStrike" kern="1200" smtClean="0">
                        <a:solidFill>
                          <a:srgbClr val="000000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복잡하고 반복적인 주문 입력 업무로 인해 오류가 많으며 </a:t>
                      </a: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영업사원의 </a:t>
                      </a:r>
                      <a:r>
                        <a:rPr kumimoji="1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업무 부담이 과중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주문입력의 복잡성으로 주문입력 실수 여지가 많음</a:t>
                      </a:r>
                      <a:endParaRPr kumimoji="0" lang="en-US" altLang="ko-KR" sz="11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anose="020B0604020202020204" pitchFamily="34" charset="0"/>
                      </a:endParaRPr>
                    </a:p>
                    <a:p>
                      <a:pPr marL="358775" marR="0" lvl="1" indent="-18415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>
                          <a:tab pos="0" algn="l"/>
                        </a:tabLst>
                        <a:defRPr/>
                      </a:pP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엑셀</a:t>
                      </a:r>
                      <a:r>
                        <a:rPr kumimoji="0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,PDF,</a:t>
                      </a: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카톡 주문접수내역을 당사 시스템으로 변환시 오입력 발생</a:t>
                      </a:r>
                      <a:endParaRPr kumimoji="0" lang="en-US" altLang="ko-KR" sz="11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주문입력시 전체 영업업무의 평균 </a:t>
                      </a:r>
                      <a:r>
                        <a:rPr kumimoji="0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1/3 </a:t>
                      </a:r>
                      <a:r>
                        <a:rPr kumimoji="0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Arial" panose="020B0604020202020204" pitchFamily="34" charset="0"/>
                        </a:rPr>
                        <a:t>이상이 업무량이 소요됨</a:t>
                      </a:r>
                      <a:endParaRPr kumimoji="0" lang="ko-KR" altLang="en-US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본고딕 Normal" panose="020B0400000000000000" pitchFamily="34" charset="-127"/>
                        <a:ea typeface="본고딕 Normal" panose="020B0400000000000000" pitchFamily="34" charset="-127"/>
                        <a:cs typeface="Arial" panose="020B0604020202020204" pitchFamily="34" charset="0"/>
                      </a:endParaRPr>
                    </a:p>
                  </a:txBody>
                  <a:tcPr marL="83077" marR="83077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주문접수</a:t>
                      </a:r>
                      <a:r>
                        <a:rPr kumimoji="1" lang="en-US" altLang="ko-KR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/</a:t>
                      </a:r>
                      <a:r>
                        <a:rPr kumimoji="1" lang="ko-KR" altLang="en-US" sz="11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본고딕 Normal" panose="020B0400000000000000" pitchFamily="34" charset="-127"/>
                          <a:ea typeface="본고딕 Normal" panose="020B0400000000000000" pitchFamily="34" charset="-127"/>
                        </a:rPr>
                        <a:t>등록</a:t>
                      </a:r>
                    </a:p>
                  </a:txBody>
                  <a:tcPr marL="83077" marR="83077" marT="46800" marB="46800" anchor="ctr" horzOverflow="overflow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indent="-87313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100" b="0" i="0" u="none" strike="noStrike" kern="120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As-Is</a:t>
                      </a: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 </a:t>
                      </a:r>
                      <a:r>
                        <a:rPr kumimoji="1"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이슈 및 원인분석서</a:t>
                      </a: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/>
                      </a:r>
                      <a:b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</a:b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(</a:t>
                      </a:r>
                      <a:r>
                        <a:rPr kumimoji="1" lang="ko-KR" altLang="en-US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현업</a:t>
                      </a:r>
                      <a:r>
                        <a:rPr kumimoji="1" lang="en-US" altLang="ko-KR" sz="1100" b="0" i="0" u="none" strike="noStrike" kern="1200" baseline="0" dirty="0">
                          <a:solidFill>
                            <a:srgbClr val="000000"/>
                          </a:solidFill>
                          <a:latin typeface="본고딕 Normal" panose="020B0400000000000000" pitchFamily="34" charset="-127"/>
                          <a:ea typeface="본고딕 Normal" panose="020B0400000000000000" pitchFamily="34" charset="-127"/>
                          <a:cs typeface="+mn-cs"/>
                        </a:rPr>
                        <a:t>)</a:t>
                      </a:r>
                    </a:p>
                  </a:txBody>
                  <a:tcPr marL="66462" marR="66462" marT="46800" marB="468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3801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26" y="3429886"/>
            <a:ext cx="3421424" cy="357025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1107918" y="2442367"/>
            <a:ext cx="51412" cy="1340084"/>
            <a:chOff x="1193981" y="2442366"/>
            <a:chExt cx="72000" cy="3228115"/>
          </a:xfrm>
        </p:grpSpPr>
        <p:cxnSp>
          <p:nvCxnSpPr>
            <p:cNvPr id="4" name="직선 연결선 3"/>
            <p:cNvCxnSpPr/>
            <p:nvPr userDrawn="1"/>
          </p:nvCxnSpPr>
          <p:spPr>
            <a:xfrm>
              <a:off x="1214781" y="2442366"/>
              <a:ext cx="13173" cy="316788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타원 4"/>
            <p:cNvSpPr/>
            <p:nvPr userDrawn="1"/>
          </p:nvSpPr>
          <p:spPr>
            <a:xfrm>
              <a:off x="1193981" y="5598481"/>
              <a:ext cx="72000" cy="72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n>
                  <a:noFill/>
                </a:ln>
                <a:solidFill>
                  <a:schemeClr val="tx2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6" name="타원 5"/>
          <p:cNvSpPr/>
          <p:nvPr/>
        </p:nvSpPr>
        <p:spPr>
          <a:xfrm>
            <a:off x="962167" y="2936648"/>
            <a:ext cx="357025" cy="35702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noFill/>
              </a:ln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7" name="텍스트 개체 틀 25"/>
          <p:cNvSpPr txBox="1">
            <a:spLocks/>
          </p:cNvSpPr>
          <p:nvPr/>
        </p:nvSpPr>
        <p:spPr>
          <a:xfrm>
            <a:off x="949795" y="2997926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02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962167" y="2441522"/>
            <a:ext cx="357025" cy="357025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9" name="텍스트 개체 틀 25"/>
          <p:cNvSpPr txBox="1">
            <a:spLocks/>
          </p:cNvSpPr>
          <p:nvPr/>
        </p:nvSpPr>
        <p:spPr>
          <a:xfrm>
            <a:off x="949795" y="2502800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01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962167" y="3425425"/>
            <a:ext cx="357025" cy="35702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11" name="텍스트 개체 틀 25"/>
          <p:cNvSpPr txBox="1">
            <a:spLocks/>
          </p:cNvSpPr>
          <p:nvPr/>
        </p:nvSpPr>
        <p:spPr>
          <a:xfrm>
            <a:off x="949795" y="3486703"/>
            <a:ext cx="383703" cy="261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smtClean="0">
                <a:latin typeface="+mj-ea"/>
                <a:ea typeface="+mj-ea"/>
              </a:rPr>
              <a:t>03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6" name="텍스트 개체 틀 26"/>
          <p:cNvSpPr txBox="1">
            <a:spLocks/>
          </p:cNvSpPr>
          <p:nvPr/>
        </p:nvSpPr>
        <p:spPr>
          <a:xfrm>
            <a:off x="1500997" y="2276475"/>
            <a:ext cx="4235019" cy="35361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 defTabSz="914400" rtl="0" eaLnBrk="1" latinLnBrk="1" hangingPunct="1">
              <a:lnSpc>
                <a:spcPct val="2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 spc="0" baseline="0">
                <a:solidFill>
                  <a:schemeClr val="bg1">
                    <a:lumMod val="65000"/>
                  </a:schemeClr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00000"/>
              </a:lnSpc>
            </a:pPr>
            <a:r>
              <a:rPr lang="ko-KR" altLang="en-US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이슈 분석 </a:t>
            </a:r>
            <a:r>
              <a:rPr lang="en-US" altLang="ko-KR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Approach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  <a:p>
            <a:pPr algn="l">
              <a:lnSpc>
                <a:spcPct val="200000"/>
              </a:lnSpc>
            </a:pPr>
            <a:r>
              <a:rPr lang="ko-KR" altLang="en-US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영역별 이슈 및 원인분석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600" smtClean="0">
                <a:solidFill>
                  <a:schemeClr val="tx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rPr>
              <a:t>개선기회 도출</a:t>
            </a:r>
            <a:endParaRPr lang="en-US" altLang="ko-KR" sz="1600" dirty="0" smtClean="0">
              <a:solidFill>
                <a:schemeClr val="tx2"/>
              </a:solidFill>
              <a:latin typeface="본고딕 Medium" panose="020B0600000000000000" pitchFamily="34" charset="-127"/>
              <a:ea typeface="본고딕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467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</p:spPr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_D-CUBE TF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6281595" y="1187790"/>
            <a:ext cx="2231114" cy="288147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square" lIns="36000" tIns="36000" rIns="36000" bIns="36000">
            <a:spAutoFit/>
          </a:bodyPr>
          <a:lstStyle/>
          <a:p>
            <a:pPr algn="ctr" defTabSz="914400" eaLnBrk="0" hangingPunct="0"/>
            <a:r>
              <a:rPr kumimoji="1" lang="ko-KR" altLang="en-US" sz="1400" b="1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개선기회</a:t>
            </a:r>
          </a:p>
        </p:txBody>
      </p:sp>
      <p:sp>
        <p:nvSpPr>
          <p:cNvPr id="44" name="Text Box 11"/>
          <p:cNvSpPr txBox="1">
            <a:spLocks noChangeArrowheads="1"/>
          </p:cNvSpPr>
          <p:nvPr/>
        </p:nvSpPr>
        <p:spPr bwMode="auto">
          <a:xfrm>
            <a:off x="1673426" y="1187790"/>
            <a:ext cx="1794711" cy="288147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square" lIns="36000" tIns="36000" rIns="36000" bIns="36000">
            <a:spAutoFit/>
          </a:bodyPr>
          <a:lstStyle/>
          <a:p>
            <a:pPr algn="ctr" defTabSz="914400" eaLnBrk="0" hangingPunct="0"/>
            <a:r>
              <a:rPr kumimoji="1" lang="ko-KR" altLang="en-US" sz="1400" b="1" dirty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주요 이슈</a:t>
            </a:r>
          </a:p>
        </p:txBody>
      </p:sp>
      <p:sp>
        <p:nvSpPr>
          <p:cNvPr id="45" name="Rectangle 6"/>
          <p:cNvSpPr>
            <a:spLocks noChangeArrowheads="1"/>
          </p:cNvSpPr>
          <p:nvPr/>
        </p:nvSpPr>
        <p:spPr bwMode="gray">
          <a:xfrm>
            <a:off x="5750817" y="3387420"/>
            <a:ext cx="3024000" cy="720000"/>
          </a:xfrm>
          <a:prstGeom prst="rect">
            <a:avLst/>
          </a:prstGeom>
          <a:solidFill>
            <a:srgbClr val="FFFFFF"/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lvl="0" algn="ctr" defTabSz="914400">
              <a:defRPr/>
            </a:pPr>
            <a:r>
              <a:rPr lang="ko-KR" altLang="en-US" sz="1200" b="1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 영업업무 </a:t>
            </a:r>
            <a:r>
              <a:rPr lang="ko-KR" altLang="en-US" sz="1200" b="1" ker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자동화와 수익성</a:t>
            </a:r>
            <a:r>
              <a:rPr lang="en-US" altLang="ko-KR" sz="1200" b="1" ker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·</a:t>
            </a:r>
            <a:r>
              <a:rPr lang="ko-KR" altLang="en-US" sz="1200" b="1" ker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주문 가시성 </a:t>
            </a:r>
            <a:r>
              <a:rPr lang="ko-KR" altLang="en-US" sz="1200" b="1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 확보를 </a:t>
            </a:r>
            <a:r>
              <a:rPr lang="ko-KR" altLang="en-US" sz="1200" b="1" ker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통한 데이터 기반 영업체계 구축</a:t>
            </a:r>
            <a:endParaRPr lang="ko-KR" altLang="en-US" sz="1200" b="1" kern="0" dirty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46" name="직사각형 175"/>
          <p:cNvSpPr>
            <a:spLocks noChangeArrowheads="1"/>
          </p:cNvSpPr>
          <p:nvPr/>
        </p:nvSpPr>
        <p:spPr bwMode="auto">
          <a:xfrm>
            <a:off x="5749829" y="3387421"/>
            <a:ext cx="265846" cy="288000"/>
          </a:xfrm>
          <a:prstGeom prst="rect">
            <a:avLst/>
          </a:prstGeom>
          <a:solidFill>
            <a:srgbClr val="041C43"/>
          </a:solidFill>
          <a:ln w="9525" algn="ctr">
            <a:solidFill>
              <a:srgbClr val="002060"/>
            </a:solidFill>
            <a:miter lim="800000"/>
            <a:headEnd/>
            <a:tailEnd/>
          </a:ln>
        </p:spPr>
        <p:txBody>
          <a:bodyPr lIns="72000" tIns="72000" rIns="72000" bIns="72000" anchor="ctr"/>
          <a:lstStyle/>
          <a:p>
            <a:pPr algn="ctr" defTabSz="914400"/>
            <a:r>
              <a:rPr lang="en-US" altLang="ko-KR" sz="1200" b="1" dirty="0">
                <a:solidFill>
                  <a:srgbClr val="FFFFFF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  <a:sym typeface="Wingdings 2" pitchFamily="18" charset="2"/>
              </a:rPr>
              <a:t>1</a:t>
            </a:r>
            <a:endParaRPr lang="ko-KR" altLang="en-US" sz="1200" b="1" dirty="0">
              <a:solidFill>
                <a:srgbClr val="FFFFFF"/>
              </a:solidFill>
              <a:latin typeface="본고딕 Normal" panose="020B0400000000000000" pitchFamily="34" charset="-127"/>
              <a:ea typeface="본고딕 Normal" panose="020B0400000000000000" pitchFamily="34" charset="-127"/>
              <a:sym typeface="Wingdings 2" pitchFamily="18" charset="2"/>
            </a:endParaRPr>
          </a:p>
        </p:txBody>
      </p:sp>
      <p:grpSp>
        <p:nvGrpSpPr>
          <p:cNvPr id="47" name="그룹 30"/>
          <p:cNvGrpSpPr/>
          <p:nvPr/>
        </p:nvGrpSpPr>
        <p:grpSpPr>
          <a:xfrm>
            <a:off x="432286" y="1742208"/>
            <a:ext cx="4253023" cy="468000"/>
            <a:chOff x="344488" y="1774864"/>
            <a:chExt cx="4607442" cy="720000"/>
          </a:xfrm>
        </p:grpSpPr>
        <p:sp>
          <p:nvSpPr>
            <p:cNvPr id="48" name="Rectangle 13"/>
            <p:cNvSpPr>
              <a:spLocks noChangeArrowheads="1"/>
            </p:cNvSpPr>
            <p:nvPr/>
          </p:nvSpPr>
          <p:spPr bwMode="gray">
            <a:xfrm>
              <a:off x="1424510" y="1774864"/>
              <a:ext cx="3527420" cy="720000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3175" algn="ctr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lvl="0" defTabSz="914400" fontAlgn="base">
                <a:spcBef>
                  <a:spcPct val="25000"/>
                </a:spcBef>
                <a:spcAft>
                  <a:spcPct val="0"/>
                </a:spcAft>
              </a:pPr>
              <a:r>
                <a:rPr kumimoji="1" lang="ko-KR" altLang="en-US" sz="1200">
                  <a:latin typeface="+mj-ea"/>
                </a:rPr>
                <a:t>복잡하고 반복적인 주문 입력 업무로 인해 오류가 많으며 영업사원 의 업무 부담이 과중</a:t>
              </a:r>
              <a:endParaRPr kumimoji="1" lang="ko-KR" altLang="en-US" sz="1200" dirty="0">
                <a:latin typeface="+mj-ea"/>
              </a:endParaRPr>
            </a:p>
          </p:txBody>
        </p:sp>
        <p:sp>
          <p:nvSpPr>
            <p:cNvPr id="49" name="Rectangle 13"/>
            <p:cNvSpPr>
              <a:spLocks noChangeArrowheads="1"/>
            </p:cNvSpPr>
            <p:nvPr/>
          </p:nvSpPr>
          <p:spPr bwMode="gray">
            <a:xfrm>
              <a:off x="344488" y="1774864"/>
              <a:ext cx="1008112" cy="720000"/>
            </a:xfrm>
            <a:prstGeom prst="rect">
              <a:avLst/>
            </a:prstGeom>
            <a:solidFill>
              <a:srgbClr val="FFFFFF">
                <a:lumMod val="85000"/>
              </a:srgbClr>
            </a:solidFill>
            <a:ln w="3175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72000" rIns="36000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본고딕 Normal" panose="020B0400000000000000" pitchFamily="34" charset="-127"/>
                  <a:ea typeface="본고딕 Normal" panose="020B0400000000000000" pitchFamily="34" charset="-127"/>
                </a:rPr>
                <a:t>PI-I-02-01</a:t>
              </a:r>
              <a:endParaRPr kumimoji="1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본고딕 Normal" panose="020B0400000000000000" pitchFamily="34" charset="-127"/>
                <a:ea typeface="본고딕 Normal" panose="020B0400000000000000" pitchFamily="34" charset="-127"/>
              </a:endParaRPr>
            </a:p>
          </p:txBody>
        </p:sp>
      </p:grpSp>
      <p:cxnSp>
        <p:nvCxnSpPr>
          <p:cNvPr id="50" name="꺾인 연결선 49"/>
          <p:cNvCxnSpPr>
            <a:stCxn id="48" idx="3"/>
            <a:endCxn id="45" idx="1"/>
          </p:cNvCxnSpPr>
          <p:nvPr/>
        </p:nvCxnSpPr>
        <p:spPr bwMode="auto">
          <a:xfrm>
            <a:off x="4685309" y="1976208"/>
            <a:ext cx="1065508" cy="1771212"/>
          </a:xfrm>
          <a:prstGeom prst="bentConnector3">
            <a:avLst>
              <a:gd name="adj1" fmla="val 50000"/>
            </a:avLst>
          </a:prstGeom>
          <a:solidFill>
            <a:srgbClr val="4987E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sp>
        <p:nvSpPr>
          <p:cNvPr id="51" name="Line 10"/>
          <p:cNvSpPr>
            <a:spLocks noChangeShapeType="1"/>
          </p:cNvSpPr>
          <p:nvPr/>
        </p:nvSpPr>
        <p:spPr bwMode="auto">
          <a:xfrm>
            <a:off x="444009" y="1491640"/>
            <a:ext cx="4253538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52" name="Line 10"/>
          <p:cNvSpPr>
            <a:spLocks noChangeShapeType="1"/>
          </p:cNvSpPr>
          <p:nvPr/>
        </p:nvSpPr>
        <p:spPr bwMode="auto">
          <a:xfrm>
            <a:off x="5753669" y="1491640"/>
            <a:ext cx="3024000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54" name="Rectangle 13"/>
          <p:cNvSpPr>
            <a:spLocks noChangeArrowheads="1"/>
          </p:cNvSpPr>
          <p:nvPr/>
        </p:nvSpPr>
        <p:spPr bwMode="gray">
          <a:xfrm>
            <a:off x="1429229" y="2444487"/>
            <a:ext cx="3256080" cy="468000"/>
          </a:xfrm>
          <a:prstGeom prst="rect">
            <a:avLst/>
          </a:prstGeom>
          <a:solidFill>
            <a:srgbClr val="FFFFFF">
              <a:lumMod val="95000"/>
            </a:srgbClr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defTabSz="914400" fontAlgn="base">
              <a:spcBef>
                <a:spcPct val="25000"/>
              </a:spcBef>
              <a:spcAft>
                <a:spcPct val="0"/>
              </a:spcAft>
            </a:pPr>
            <a:r>
              <a:rPr kumimoji="1" lang="ko-KR" altLang="en-US" sz="1200">
                <a:latin typeface="+mj-ea"/>
              </a:rPr>
              <a:t>영업활동 현장에서 업무처리할 수 있는 업무환경 미흡</a:t>
            </a:r>
            <a:endParaRPr kumimoji="1" lang="ko-KR" altLang="en-US" sz="1200" dirty="0">
              <a:latin typeface="+mj-ea"/>
            </a:endParaRPr>
          </a:p>
        </p:txBody>
      </p:sp>
      <p:sp>
        <p:nvSpPr>
          <p:cNvPr id="55" name="Rectangle 13"/>
          <p:cNvSpPr>
            <a:spLocks noChangeArrowheads="1"/>
          </p:cNvSpPr>
          <p:nvPr/>
        </p:nvSpPr>
        <p:spPr bwMode="gray">
          <a:xfrm>
            <a:off x="432286" y="2444487"/>
            <a:ext cx="930565" cy="468000"/>
          </a:xfrm>
          <a:prstGeom prst="rect">
            <a:avLst/>
          </a:prstGeom>
          <a:solidFill>
            <a:srgbClr val="FFFFFF">
              <a:lumMod val="85000"/>
            </a:srgbClr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72000" rIns="36000" anchor="ctr"/>
          <a:lstStyle/>
          <a:p>
            <a:pPr defTabSz="914400" fontAlgn="base">
              <a:spcBef>
                <a:spcPct val="25000"/>
              </a:spcBef>
              <a:spcAft>
                <a:spcPct val="0"/>
              </a:spcAft>
              <a:defRPr/>
            </a:pPr>
            <a:r>
              <a:rPr kumimoji="1" lang="en-US" altLang="ko-KR" sz="1200" b="1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PI-I-02-06</a:t>
            </a:r>
            <a:endParaRPr kumimoji="1" lang="en-US" altLang="ko-KR" sz="1200" b="1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57" name="Rectangle 13"/>
          <p:cNvSpPr>
            <a:spLocks noChangeArrowheads="1"/>
          </p:cNvSpPr>
          <p:nvPr/>
        </p:nvSpPr>
        <p:spPr bwMode="gray">
          <a:xfrm>
            <a:off x="1429229" y="3181222"/>
            <a:ext cx="3256080" cy="468000"/>
          </a:xfrm>
          <a:prstGeom prst="rect">
            <a:avLst/>
          </a:prstGeom>
          <a:solidFill>
            <a:srgbClr val="FFFFFF">
              <a:lumMod val="95000"/>
            </a:srgbClr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lvl="0" defTabSz="914400" fontAlgn="base">
              <a:spcBef>
                <a:spcPct val="25000"/>
              </a:spcBef>
              <a:spcAft>
                <a:spcPct val="0"/>
              </a:spcAft>
            </a:pPr>
            <a:r>
              <a:rPr kumimoji="1" lang="ko-KR" altLang="en-US" sz="1200">
                <a:latin typeface="+mj-ea"/>
              </a:rPr>
              <a:t>영업 견적원가 산출의 부정확성</a:t>
            </a:r>
            <a:endParaRPr kumimoji="1" lang="ko-KR" altLang="en-US" sz="1200" dirty="0">
              <a:latin typeface="+mj-ea"/>
            </a:endParaRPr>
          </a:p>
        </p:txBody>
      </p:sp>
      <p:sp>
        <p:nvSpPr>
          <p:cNvPr id="58" name="Rectangle 13"/>
          <p:cNvSpPr>
            <a:spLocks noChangeArrowheads="1"/>
          </p:cNvSpPr>
          <p:nvPr/>
        </p:nvSpPr>
        <p:spPr bwMode="gray">
          <a:xfrm>
            <a:off x="432286" y="3181222"/>
            <a:ext cx="930565" cy="468000"/>
          </a:xfrm>
          <a:prstGeom prst="rect">
            <a:avLst/>
          </a:prstGeom>
          <a:solidFill>
            <a:srgbClr val="FFFFFF">
              <a:lumMod val="85000"/>
            </a:srgbClr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72000" rIns="36000" anchor="ctr"/>
          <a:lstStyle/>
          <a:p>
            <a:pPr defTabSz="914400" fontAlgn="base">
              <a:spcBef>
                <a:spcPct val="25000"/>
              </a:spcBef>
              <a:spcAft>
                <a:spcPct val="0"/>
              </a:spcAft>
              <a:defRPr/>
            </a:pPr>
            <a:r>
              <a:rPr kumimoji="1" lang="en-US" altLang="ko-KR" sz="1200" b="1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PI-I-02-02</a:t>
            </a:r>
            <a:endParaRPr kumimoji="1" lang="en-US" altLang="ko-KR" sz="1200" b="1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60" name="Rectangle 13"/>
          <p:cNvSpPr>
            <a:spLocks noChangeArrowheads="1"/>
          </p:cNvSpPr>
          <p:nvPr/>
        </p:nvSpPr>
        <p:spPr bwMode="gray">
          <a:xfrm>
            <a:off x="1429229" y="3917957"/>
            <a:ext cx="3256080" cy="468000"/>
          </a:xfrm>
          <a:prstGeom prst="rect">
            <a:avLst/>
          </a:prstGeom>
          <a:solidFill>
            <a:srgbClr val="FFFFFF">
              <a:lumMod val="95000"/>
            </a:srgbClr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lvl="0" defTabSz="914400" fontAlgn="base">
              <a:spcBef>
                <a:spcPct val="25000"/>
              </a:spcBef>
              <a:spcAft>
                <a:spcPct val="0"/>
              </a:spcAft>
            </a:pPr>
            <a:r>
              <a:rPr kumimoji="1" lang="ko-KR" altLang="en-US" sz="1200">
                <a:latin typeface="+mj-ea"/>
              </a:rPr>
              <a:t>제품별로 부정확한 원가정보 제공</a:t>
            </a:r>
            <a:endParaRPr kumimoji="1" lang="ko-KR" altLang="en-US" sz="1200" dirty="0">
              <a:latin typeface="+mj-ea"/>
            </a:endParaRPr>
          </a:p>
        </p:txBody>
      </p:sp>
      <p:sp>
        <p:nvSpPr>
          <p:cNvPr id="61" name="Rectangle 13"/>
          <p:cNvSpPr>
            <a:spLocks noChangeArrowheads="1"/>
          </p:cNvSpPr>
          <p:nvPr/>
        </p:nvSpPr>
        <p:spPr bwMode="gray">
          <a:xfrm>
            <a:off x="432286" y="3917957"/>
            <a:ext cx="930565" cy="468000"/>
          </a:xfrm>
          <a:prstGeom prst="rect">
            <a:avLst/>
          </a:prstGeom>
          <a:solidFill>
            <a:srgbClr val="FFFFFF">
              <a:lumMod val="85000"/>
            </a:srgbClr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72000" rIns="36000" anchor="ctr"/>
          <a:lstStyle/>
          <a:p>
            <a:pPr defTabSz="914400" fontAlgn="base">
              <a:spcBef>
                <a:spcPct val="25000"/>
              </a:spcBef>
              <a:spcAft>
                <a:spcPct val="0"/>
              </a:spcAft>
              <a:defRPr/>
            </a:pPr>
            <a:r>
              <a:rPr kumimoji="1" lang="en-US" altLang="ko-KR" sz="1200" b="1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PI-I-02-05</a:t>
            </a:r>
            <a:endParaRPr kumimoji="1" lang="en-US" altLang="ko-KR" sz="1200" b="1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sp>
        <p:nvSpPr>
          <p:cNvPr id="63" name="Rectangle 13"/>
          <p:cNvSpPr>
            <a:spLocks noChangeArrowheads="1"/>
          </p:cNvSpPr>
          <p:nvPr/>
        </p:nvSpPr>
        <p:spPr bwMode="gray">
          <a:xfrm>
            <a:off x="1429229" y="4654692"/>
            <a:ext cx="3256080" cy="468000"/>
          </a:xfrm>
          <a:prstGeom prst="rect">
            <a:avLst/>
          </a:prstGeom>
          <a:solidFill>
            <a:srgbClr val="FFFFFF">
              <a:lumMod val="95000"/>
            </a:srgbClr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defTabSz="914400" fontAlgn="base">
              <a:spcBef>
                <a:spcPct val="25000"/>
              </a:spcBef>
              <a:spcAft>
                <a:spcPct val="0"/>
              </a:spcAft>
            </a:pPr>
            <a:r>
              <a:rPr kumimoji="1" lang="ko-KR" altLang="en-US" sz="1200">
                <a:latin typeface="+mj-ea"/>
              </a:rPr>
              <a:t>오더별로 주문진행정보가 부정확함</a:t>
            </a:r>
            <a:endParaRPr kumimoji="1" lang="ko-KR" altLang="en-US" sz="1200" dirty="0">
              <a:latin typeface="+mj-ea"/>
            </a:endParaRPr>
          </a:p>
        </p:txBody>
      </p:sp>
      <p:sp>
        <p:nvSpPr>
          <p:cNvPr id="64" name="Rectangle 13"/>
          <p:cNvSpPr>
            <a:spLocks noChangeArrowheads="1"/>
          </p:cNvSpPr>
          <p:nvPr/>
        </p:nvSpPr>
        <p:spPr bwMode="gray">
          <a:xfrm>
            <a:off x="432286" y="4654692"/>
            <a:ext cx="930565" cy="468000"/>
          </a:xfrm>
          <a:prstGeom prst="rect">
            <a:avLst/>
          </a:prstGeom>
          <a:solidFill>
            <a:srgbClr val="FFFFFF">
              <a:lumMod val="85000"/>
            </a:srgbClr>
          </a:solidFill>
          <a:ln w="31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lIns="72000" rIns="36000" anchor="ctr"/>
          <a:lstStyle/>
          <a:p>
            <a:pPr defTabSz="914400" fontAlgn="base">
              <a:spcBef>
                <a:spcPct val="25000"/>
              </a:spcBef>
              <a:spcAft>
                <a:spcPct val="0"/>
              </a:spcAft>
              <a:defRPr/>
            </a:pPr>
            <a:r>
              <a:rPr kumimoji="1" lang="en-US" altLang="ko-KR" sz="1200" b="1" kern="0" smtClean="0">
                <a:solidFill>
                  <a:srgbClr val="000000"/>
                </a:solidFill>
                <a:latin typeface="본고딕 Normal" panose="020B0400000000000000" pitchFamily="34" charset="-127"/>
                <a:ea typeface="본고딕 Normal" panose="020B0400000000000000" pitchFamily="34" charset="-127"/>
              </a:rPr>
              <a:t>PI-I-02-04</a:t>
            </a:r>
            <a:endParaRPr kumimoji="1" lang="en-US" altLang="ko-KR" sz="1200" b="1" kern="0">
              <a:solidFill>
                <a:srgbClr val="000000"/>
              </a:solidFill>
              <a:latin typeface="본고딕 Normal" panose="020B0400000000000000" pitchFamily="34" charset="-127"/>
              <a:ea typeface="본고딕 Normal" panose="020B0400000000000000" pitchFamily="34" charset="-127"/>
            </a:endParaRPr>
          </a:p>
        </p:txBody>
      </p:sp>
      <p:cxnSp>
        <p:nvCxnSpPr>
          <p:cNvPr id="71" name="꺾인 연결선 70"/>
          <p:cNvCxnSpPr>
            <a:stCxn id="54" idx="3"/>
            <a:endCxn id="45" idx="1"/>
          </p:cNvCxnSpPr>
          <p:nvPr/>
        </p:nvCxnSpPr>
        <p:spPr bwMode="auto">
          <a:xfrm>
            <a:off x="4685309" y="2678487"/>
            <a:ext cx="1065508" cy="1068933"/>
          </a:xfrm>
          <a:prstGeom prst="bentConnector3">
            <a:avLst>
              <a:gd name="adj1" fmla="val 50000"/>
            </a:avLst>
          </a:prstGeom>
          <a:solidFill>
            <a:srgbClr val="4987E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72" name="꺾인 연결선 71"/>
          <p:cNvCxnSpPr>
            <a:stCxn id="57" idx="3"/>
            <a:endCxn id="45" idx="1"/>
          </p:cNvCxnSpPr>
          <p:nvPr/>
        </p:nvCxnSpPr>
        <p:spPr bwMode="auto">
          <a:xfrm>
            <a:off x="4685309" y="3415222"/>
            <a:ext cx="1065508" cy="332198"/>
          </a:xfrm>
          <a:prstGeom prst="bentConnector3">
            <a:avLst>
              <a:gd name="adj1" fmla="val 50000"/>
            </a:avLst>
          </a:prstGeom>
          <a:solidFill>
            <a:srgbClr val="4987E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73" name="꺾인 연결선 72"/>
          <p:cNvCxnSpPr>
            <a:stCxn id="60" idx="3"/>
            <a:endCxn id="45" idx="1"/>
          </p:cNvCxnSpPr>
          <p:nvPr/>
        </p:nvCxnSpPr>
        <p:spPr bwMode="auto">
          <a:xfrm flipV="1">
            <a:off x="4685309" y="3747420"/>
            <a:ext cx="1065508" cy="404537"/>
          </a:xfrm>
          <a:prstGeom prst="bentConnector3">
            <a:avLst>
              <a:gd name="adj1" fmla="val 50000"/>
            </a:avLst>
          </a:prstGeom>
          <a:solidFill>
            <a:srgbClr val="4987E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74" name="꺾인 연결선 73"/>
          <p:cNvCxnSpPr>
            <a:stCxn id="63" idx="3"/>
            <a:endCxn id="45" idx="1"/>
          </p:cNvCxnSpPr>
          <p:nvPr/>
        </p:nvCxnSpPr>
        <p:spPr bwMode="auto">
          <a:xfrm flipV="1">
            <a:off x="4685309" y="3747420"/>
            <a:ext cx="1065508" cy="1141272"/>
          </a:xfrm>
          <a:prstGeom prst="bentConnector3">
            <a:avLst>
              <a:gd name="adj1" fmla="val 50000"/>
            </a:avLst>
          </a:prstGeom>
          <a:solidFill>
            <a:srgbClr val="4987E3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sp>
        <p:nvSpPr>
          <p:cNvPr id="82" name="텍스트 개체 틀 81"/>
          <p:cNvSpPr>
            <a:spLocks noGrp="1"/>
          </p:cNvSpPr>
          <p:nvPr>
            <p:ph type="body" sz="quarter" idx="19"/>
          </p:nvPr>
        </p:nvSpPr>
        <p:spPr>
          <a:xfrm>
            <a:off x="272833" y="146592"/>
            <a:ext cx="6172693" cy="418704"/>
          </a:xfrm>
        </p:spPr>
        <p:txBody>
          <a:bodyPr/>
          <a:lstStyle/>
          <a:p>
            <a:r>
              <a:rPr lang="ko-KR" altLang="en-US" smtClean="0"/>
              <a:t>이슈별 개선기회 도출</a:t>
            </a:r>
            <a:endParaRPr lang="en-US" altLang="ko-KR" smtClean="0"/>
          </a:p>
        </p:txBody>
      </p:sp>
      <p:sp>
        <p:nvSpPr>
          <p:cNvPr id="89" name="제목 2"/>
          <p:cNvSpPr txBox="1">
            <a:spLocks/>
          </p:cNvSpPr>
          <p:nvPr/>
        </p:nvSpPr>
        <p:spPr>
          <a:xfrm>
            <a:off x="272724" y="576000"/>
            <a:ext cx="9355229" cy="70894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12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700" smtClean="0">
                <a:latin typeface="+mj-ea"/>
              </a:rPr>
              <a:t>02-</a:t>
            </a:r>
            <a:r>
              <a:rPr lang="ko-KR" altLang="en-US" sz="1700" smtClean="0">
                <a:latin typeface="+mj-ea"/>
              </a:rPr>
              <a:t>영업관리 </a:t>
            </a:r>
            <a:endParaRPr lang="ko-KR" altLang="en-US" sz="170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7099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/>
        <a:ea typeface="본고딕 Medium"/>
        <a:cs typeface=""/>
      </a:majorFont>
      <a:minorFont>
        <a:latin typeface="본고딕 Normal"/>
        <a:ea typeface="본고딕 Normal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9092</TotalTime>
  <Words>1352</Words>
  <Application>Microsoft Office PowerPoint</Application>
  <PresentationFormat>A4 용지(210x297mm)</PresentationFormat>
  <Paragraphs>267</Paragraphs>
  <Slides>12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2" baseType="lpstr">
      <vt:lpstr>돋움</vt:lpstr>
      <vt:lpstr>맑은 고딕</vt:lpstr>
      <vt:lpstr>본고딕 Bold</vt:lpstr>
      <vt:lpstr>본고딕 Medium</vt:lpstr>
      <vt:lpstr>본고딕 Normal</vt:lpstr>
      <vt:lpstr>Arial</vt:lpstr>
      <vt:lpstr>Wingdings</vt:lpstr>
      <vt:lpstr>Wingdings 2</vt:lpstr>
      <vt:lpstr>1_Office 테마</vt:lpstr>
      <vt:lpstr>think-cell 슬라이드</vt:lpstr>
      <vt:lpstr>D-Cube 마스터플랜 프로젝트 (이슈 분석서)</vt:lpstr>
      <vt:lpstr>PowerPoint 프레젠테이션</vt:lpstr>
      <vt:lpstr>PowerPoint 프레젠테이션</vt:lpstr>
      <vt:lpstr>PowerPoint 프레젠테이션</vt:lpstr>
      <vt:lpstr>현행 영업관리 프로세스는 기준정보,주문관리,재고/출하관리 등 8개의 Major 프로세스와 25개의 Sub 프로세스로 구성됨 </vt:lpstr>
      <vt:lpstr>현행 영업관리 프로세스는 기준정보,주문관리,재고/출하관리 등 8개의 Major 프로세스와 25개의 Sub 프로세스로 구성됨</vt:lpstr>
      <vt:lpstr>현행 영업관리 프로세스는 기준정보,주문관리,재고/출하관리 등 8개의 Major 프로세스와 25개의 Sub 프로세스로 구성됨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동국제강그룹  문서 템플릿 통합 계획안</dc:title>
  <dc:creator>heeseung.jang</dc:creator>
  <cp:lastModifiedBy>USER</cp:lastModifiedBy>
  <cp:revision>389</cp:revision>
  <cp:lastPrinted>2025-07-23T03:28:55Z</cp:lastPrinted>
  <dcterms:created xsi:type="dcterms:W3CDTF">2019-03-13T02:13:57Z</dcterms:created>
  <dcterms:modified xsi:type="dcterms:W3CDTF">2026-07-30T07:46:00Z</dcterms:modified>
</cp:coreProperties>
</file>